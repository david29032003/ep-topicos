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Casos que cumplen (de 16)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14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Intentos totales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13</c:v>
                </c:pt>
                <c:pt idx="2">
                  <c:v>29</c:v>
                </c:pt>
                <c:pt idx="3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Reintentos inútiles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contrato es una promesa verificable: qué argumentos acepta la herramienta y qué forma tiene lo que devuelve. Si alguien no la cumple, el error se detecta en el borde y no se propaga.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la herramienta escribiera algo, reintentar sin cuidado podría duplicar el efecto. Aquí no pasa, y por eso el reintento ingenuo no rompe nada; solo gasta.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3: contratos de una herramienta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Examen Parcial CC0F4 - Tópicos de Ciencia de la Computación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¿De qué trata el experimento?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Los experimentos 1 y 2 buscan texto y generan respuestas. Aquí no interviene ningún LLM</a:t>
            </a:r>
          </a:p>
          <a:p>
            <a:pPr lvl="1">
              <a:spcAft>
                <a:spcPts val="800"/>
              </a:spcAft>
            </a:pPr>
            <a:r>
              <a:rPr sz="1700"/>
              <a:t>- Se prueba una herramienta que el LLM podría llamar: ocds.indicadores_proceso</a:t>
            </a:r>
          </a:p>
          <a:p>
            <a:pPr>
              <a:spcAft>
                <a:spcPts val="800"/>
              </a:spcAft>
            </a:pPr>
            <a:r>
              <a:rPr sz="2000"/>
              <a:t>• La herramienta puede recibir argumentos mal escritos y puede fallar. El experimento mide cómo reacciona</a:t>
            </a:r>
          </a:p>
          <a:p>
            <a:pPr>
              <a:spcAft>
                <a:spcPts val="800"/>
              </a:spcAft>
            </a:pPr>
            <a:r>
              <a:rPr sz="2000"/>
              <a:t>• Pregunta del experimento</a:t>
            </a:r>
          </a:p>
          <a:p>
            <a:pPr lvl="1">
              <a:spcAft>
                <a:spcPts val="800"/>
              </a:spcAft>
            </a:pPr>
            <a:r>
              <a:rPr sz="1700"/>
              <a:t>- Con los mismos 16 casos, ¿qué agregan los contratos y el reintento selectivo frente a ejecutar sin contratos o reintentar todo?</a:t>
            </a:r>
          </a:p>
          <a:p>
            <a:pPr>
              <a:spcAft>
                <a:spcPts val="800"/>
              </a:spcAft>
            </a:pPr>
            <a:r>
              <a:rPr sz="2000"/>
              <a:t>• Se comparan cuatro políticas de ejecución, de A (sin nada) a D (contratos y reintento selectivo)</a:t>
            </a:r>
          </a:p>
          <a:p>
            <a:pPr>
              <a:spcAft>
                <a:spcPts val="800"/>
              </a:spcAft>
            </a:pPr>
            <a:r>
              <a:rPr sz="2000"/>
              <a:t>• La medida es objetiva: cada caso tiene un resultado esperado fijado antes de correr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La herramienta: ocds.indicadores_proceso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389120"/>
                <a:gridCol w="3383280"/>
              </a:tblGrid>
              <a:tr h="502920">
                <a:tc>
                  <a:txBody>
                    <a:bodyPr/>
                    <a:lstStyle/>
                    <a:p>
                      <a:r>
                        <a:rPr sz="1500"/>
                        <a:t>Señal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Regla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Para qué sirve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/>
                        <a:t>unico_postor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n_postores == 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indicador de riesgo (Fazekas y Kocsis, 2020)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/>
                        <a:t>adjudicado_sobre_vr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monto adjudicado / valor referencial &gt; 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sobrecosto</a:t>
                      </a:r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/>
                        <a:t>equivalente_solo_en_objeto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el objeto dice "o equivalente" y el ítem 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la inconsistencia de Q15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Recibe un ocid (y un ítem si el proceso tiene varios) y calcula las tres señales desde los datos OCDS</a:t>
            </a:r>
          </a:p>
          <a:p>
            <a:pPr>
              <a:spcAft>
                <a:spcPts val="800"/>
              </a:spcAft>
            </a:pPr>
            <a:r>
              <a:rPr sz="1900"/>
              <a:t>• No decide si un requisito está direccionado: eso sigue siendo del LLM y de la regla de la PC1</a:t>
            </a:r>
          </a:p>
          <a:p>
            <a:pPr>
              <a:spcAft>
                <a:spcPts val="800"/>
              </a:spcAft>
            </a:pPr>
            <a:r>
              <a:rPr sz="1900"/>
              <a:t>• Solo entrega hechos del registro, para contrastar lo que dice el modelo</a:t>
            </a:r>
          </a:p>
          <a:p>
            <a:pPr lvl="1">
              <a:spcAft>
                <a:spcPts val="800"/>
              </a:spcAft>
            </a:pPr>
            <a:r>
              <a:rPr sz="1600"/>
              <a:t>- Ejemplo con Q15: el LLM se contradice sobre "o equivalente" y la herramienta devuelve objeto sí, ítem no</a:t>
            </a:r>
          </a:p>
          <a:p>
            <a:pPr>
              <a:spcAft>
                <a:spcPts val="800"/>
              </a:spcAft>
            </a:pPr>
            <a:r>
              <a:rPr sz="1900"/>
              <a:t>• No tiene efectos: solo lee data/indice_procesos.jsonl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Ejemplo de una llamada válida (proceso de Q15)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383280" cy="7315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00000"/>
                </a:solidFill>
              </a:rPr>
              <a:t>Entrada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{"ocid": "ocds-dgv273-seacev3-2025-200121-10"}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931920" y="164592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480560" y="1280160"/>
            <a:ext cx="1737360" cy="7315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ocds.indicadores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_proceso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0" y="164592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0" y="1280160"/>
            <a:ext cx="4846320" cy="7315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ToolResult { status: "ok", data: {…}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774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39496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Campo de data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Valor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nomenclatura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LP-ABR-1-2025-APN-1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entidad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MTC - AUTORIDAD PORTUARIA NACIONAL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n_postores / unico_postor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11 / false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ratio_adjudicado_vr / adjudicado_sobre_vr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0,7865 / false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objeto_dice_equivalente / item_dice_equivalente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true / false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alertas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["equivalente_solo_en_objeto"]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El proceso no tuvo un solo postor ni se adjudicó sobre el valor referencial, pero sí tiene la alerta de Q15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Por dónde pasa una llamada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73736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Entrada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{ocid, tender_item_id}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280160"/>
            <a:ext cx="173736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Contrato de entrada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(Pydantic)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280160"/>
            <a:ext cx="173736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Lectura del índice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(aquí se inyectan fallos)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280160"/>
            <a:ext cx="173736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Validación de dominio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280160"/>
            <a:ext cx="137160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Cálculo de las señales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280160"/>
            <a:ext cx="1554480" cy="1097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Contrato de salida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182880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97679" y="1828800"/>
            <a:ext cx="274321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182880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182880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0" y="1828800"/>
            <a:ext cx="914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29000" y="23774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651760" y="3017520"/>
            <a:ext cx="1554480" cy="5029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3520440"/>
            <a:ext cx="0" cy="9601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40680" y="23774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63440" y="3017520"/>
            <a:ext cx="1554480" cy="8686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transient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timeout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execution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40680" y="3886200"/>
            <a:ext cx="0" cy="5943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23774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5120" y="3017520"/>
            <a:ext cx="1554480" cy="5029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domain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52360" y="3520440"/>
            <a:ext cx="0" cy="9601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35640" y="23774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149840" y="3017520"/>
            <a:ext cx="1371600" cy="5029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output_contract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835640" y="3520440"/>
            <a:ext cx="0" cy="9601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000000"/>
                </a:solidFill>
              </a:rPr>
              <a:t>ToolResult { status, data, error }</a:t>
            </a:r>
          </a:p>
          <a:p>
            <a:pPr algn="ctr"/>
            <a:r>
              <a:rPr sz="1500">
                <a:solidFill>
                  <a:srgbClr val="000000"/>
                </a:solidFill>
              </a:rPr>
              <a:t>ok con los indicadores, o error con un ToolError { code, kind, retryable, message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/>
              <a:t>• El contrato de entrada y el de salida son los dos controles de la herramienta; los errores de abajo salen tipados</a:t>
            </a:r>
          </a:p>
          <a:p>
            <a:pPr>
              <a:spcAft>
                <a:spcPts val="800"/>
              </a:spcAft>
            </a:pPr>
            <a:r>
              <a:rPr sz="1700"/>
              <a:t>• Si el contrato de salida detecta una salida rota, no llega al LLM y no se reintenta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Los contratos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0"/>
              </a:tblGrid>
              <a:tr h="640080">
                <a:tc>
                  <a:txBody>
                    <a:bodyPr/>
                    <a:lstStyle/>
                    <a:p>
                      <a:r>
                        <a:rPr sz="1600"/>
                        <a:t>Parte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Qué exige</a:t>
                      </a:r>
                    </a:p>
                  </a:txBody>
                  <a:tcPr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/>
                        <a:t>Entrada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ocid con el patrón ocds-dgv273-seacev3-N (hasta dos sufijos); tender_item_id entero estricto ≥ 1 u omitido</a:t>
                      </a:r>
                    </a:p>
                  </a:txBody>
                  <a:tcPr marT="27432" marB="27432"/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extra="forbid": un argumento inventado es un error, no se ignora</a:t>
                      </a:r>
                    </a:p>
                  </a:txBody>
                  <a:tcPr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/>
                        <a:t>Dominio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el ocid existe en el índice; el ítem pertenece al proceso; si hay varios ítems hay que indicar cuál</a:t>
                      </a:r>
                    </a:p>
                  </a:txBody>
                  <a:tcPr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/>
                        <a:t>Salida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tipos y rangos (n_postores ≥ 0, ratio ≥ 0)</a:t>
                      </a:r>
                    </a:p>
                  </a:txBody>
                  <a:tcPr marT="27432" marB="27432"/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coherencia: unico_postor coincide con n_postores, adjudicado_sobre_vr con el ratio, y alertas con los indicadores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Un argumento mal escrito falla en la entrada y no dentro del cálculo</a:t>
            </a:r>
          </a:p>
          <a:p>
            <a:pPr>
              <a:spcAft>
                <a:spcPts val="800"/>
              </a:spcAft>
            </a:pPr>
            <a:r>
              <a:rPr sz="1900"/>
              <a:t>• Una salida incoherente se bloquea antes de que el LLM la lea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Los tipos de error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852160"/>
                <a:gridCol w="2651760"/>
              </a:tblGrid>
              <a:tr h="475488">
                <a:tc>
                  <a:txBody>
                    <a:bodyPr/>
                    <a:lstStyle/>
                    <a:p>
                      <a:r>
                        <a:rPr sz="1600"/>
                        <a:t>kind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Cuándo ocurre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¿Se reintenta?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validation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la entrada no cumple el contrato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domain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ocid o ítem que no existen, o falta elegir ítem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transient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el índice no está disponible por un momento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sí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timeout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un intento pasa de 100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sí, si queda deadline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execution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excepción interna no esperada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output_contract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la salida no cumple el contrato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</a:t>
                      </a:r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herramienta desconocida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Cada error lleva retryable: el llamador sabe si tiene sentido volver a intentar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Cuándo reintentar y cuándo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La herramienta solo lee, así que repetir una llamada no duplica nada: reintentar es seguro</a:t>
            </a:r>
          </a:p>
          <a:p>
            <a:pPr>
              <a:spcAft>
                <a:spcPts val="800"/>
              </a:spcAft>
            </a:pPr>
            <a:r>
              <a:rPr sz="1900"/>
              <a:t>• Pero solo es útil si el error puede desaparecer solo</a:t>
            </a:r>
          </a:p>
          <a:p>
            <a:pPr lvl="1">
              <a:spcAft>
                <a:spcPts val="800"/>
              </a:spcAft>
            </a:pPr>
            <a:r>
              <a:rPr sz="1600"/>
              <a:t>- Sí: transient (el índice no responde un momento) y timeout (un intento pasa de 100 ms)</a:t>
            </a:r>
          </a:p>
          <a:p>
            <a:pPr lvl="1">
              <a:spcAft>
                <a:spcPts val="800"/>
              </a:spcAft>
            </a:pPr>
            <a:r>
              <a:rPr sz="1600"/>
              <a:t>- No: validation, domain, output_contract, execution y protocol</a:t>
            </a:r>
          </a:p>
          <a:p>
            <a:pPr lvl="1">
              <a:spcAft>
                <a:spcPts val="800"/>
              </a:spcAft>
            </a:pPr>
            <a:r>
              <a:rPr sz="1600"/>
              <a:t>- Reintentar una entrada inválida o un ocid inexistente da el mismo error otra vez</a:t>
            </a:r>
          </a:p>
          <a:p>
            <a:pPr lvl="1">
              <a:spcAft>
                <a:spcPts val="800"/>
              </a:spcAft>
            </a:pPr>
            <a:r>
              <a:rPr sz="1600"/>
              <a:t>- Una salida rota es un bug de la herramienta; repetirla da la misma salida rota</a:t>
            </a:r>
          </a:p>
          <a:p>
            <a:pPr>
              <a:spcAft>
                <a:spcPts val="800"/>
              </a:spcAft>
            </a:pPr>
            <a:r>
              <a:rPr sz="1900"/>
              <a:t>• Parámetros: hasta 3 intentos, espera de 20 y 40 ms entre intentos, deadline total de 300 ms</a:t>
            </a:r>
          </a:p>
          <a:p>
            <a:pPr>
              <a:spcAft>
                <a:spcPts val="800"/>
              </a:spcAft>
            </a:pPr>
            <a:r>
              <a:rPr sz="1900"/>
              <a:t>• Los fallos transitorios y lentos se inyectan de forma determinista, porque el índice es un archivo local y no falla solo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Las cuatro políticas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108960"/>
                <a:gridCol w="1920240"/>
                <a:gridCol w="914400"/>
              </a:tblGrid>
              <a:tr h="566928">
                <a:tc>
                  <a:txBody>
                    <a:bodyPr/>
                    <a:lstStyle/>
                    <a:p>
                      <a:r>
                        <a:rPr sz="1500"/>
                        <a:t>Política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Contratos y ToolError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Timeout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Reintento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Intentos máx.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/>
                        <a:t>A  sin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/>
                        <a:t>B 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1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/>
                        <a:t>C  reintenta todo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100 ms por intento, deadline 300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cualquier error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3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/>
                        <a:t>D  reintento selectivo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100 ms por intento, deadline 300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solo transient y timeout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3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A es la línea base: ejecuta lo que llegue, y los errores salen sin tipo</a:t>
            </a:r>
          </a:p>
          <a:p>
            <a:pPr>
              <a:spcAft>
                <a:spcPts val="800"/>
              </a:spcAft>
            </a:pPr>
            <a:r>
              <a:rPr sz="1900"/>
              <a:t>• B agrega los contratos y el ToolError tipado</a:t>
            </a:r>
          </a:p>
          <a:p>
            <a:pPr>
              <a:spcAft>
                <a:spcPts val="800"/>
              </a:spcAft>
            </a:pPr>
            <a:r>
              <a:rPr sz="1900"/>
              <a:t>• C agrega a B un timeout y reintenta cualquier error</a:t>
            </a:r>
          </a:p>
          <a:p>
            <a:pPr>
              <a:spcAft>
                <a:spcPts val="800"/>
              </a:spcAft>
            </a:pPr>
            <a:r>
              <a:rPr sz="1900"/>
              <a:t>• D agrega a B un timeout por intento y un deadline total, y reintenta solo lo que puede arreglarse solo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Los 16 casos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760720"/>
                <a:gridCol w="2651760"/>
              </a:tblGrid>
              <a:tr h="566928">
                <a:tc>
                  <a:txBody>
                    <a:bodyPr/>
                    <a:lstStyle/>
                    <a:p>
                      <a:r>
                        <a:rPr sz="1400"/>
                        <a:t>Grupo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Casos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Resultado que pide la especificación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Válidos (4)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alerta de Q15, único postor, sobre el VR, ítem de un proceso de 6 ítems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ok con la alerta esperada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Entrada inválida (3)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ocid mal formado, ítem como texto, argumento extra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validation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Error de dominio (3)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ocid inexistente, ítem de otro proceso, falta elegir ítem (104 ítems)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domain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Transitorio (2)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falla solo en el primer intento / falla siempre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ok tras reintentar / transient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Lento (2)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tarda 150 ms solo la primera vez / siempre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ok tras reintentar / timeout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Error interno (1)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una excepción dentro de la herramienta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execution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Salida mal formada (1)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devuelve n_postores = -1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output_contract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/>
              <a:t>• El resultado esperado de cada caso está escrito en el código antes de correr (CASOS en exp3_herramienta.py)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se mantiene igual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Los mismos 16 casos, con los mismos argumentos y los mismos fallos inyectados, para las cuatro políticas</a:t>
            </a:r>
          </a:p>
          <a:p>
            <a:pPr>
              <a:spcAft>
                <a:spcPts val="800"/>
              </a:spcAft>
            </a:pPr>
            <a:r>
              <a:rPr sz="2000"/>
              <a:t>• El resultado esperado de cada caso, fijado antes de correr</a:t>
            </a:r>
          </a:p>
          <a:p>
            <a:pPr>
              <a:spcAft>
                <a:spcPts val="800"/>
              </a:spcAft>
            </a:pPr>
            <a:r>
              <a:rPr sz="2000"/>
              <a:t>• El índice de procesos, con su SHA-256 guardado en results/exp3/manifiesto.json</a:t>
            </a:r>
          </a:p>
          <a:p>
            <a:pPr>
              <a:spcAft>
                <a:spcPts val="800"/>
              </a:spcAft>
            </a:pPr>
            <a:r>
              <a:rPr sz="2000"/>
              <a:t>• Los tiempos: 3 intentos, esperas de 20 y 40 ms, 100 ms por intento y 300 ms de deadline</a:t>
            </a:r>
          </a:p>
          <a:p>
            <a:pPr>
              <a:spcAft>
                <a:spcPts val="800"/>
              </a:spcAft>
            </a:pPr>
            <a:r>
              <a:rPr sz="2000"/>
              <a:t>• No hay azar ni modelo: la misma entrada da siempre el mismo resultado</a:t>
            </a:r>
          </a:p>
          <a:p>
            <a:pPr>
              <a:spcAft>
                <a:spcPts val="800"/>
              </a:spcAft>
            </a:pPr>
            <a:r>
              <a:rPr sz="2000"/>
              <a:t>• Lo único que cambia entre políticas es lo que rodea a la herramienta, no la herramienta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Cómo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Casos que cumplen la especificación</a:t>
            </a:r>
          </a:p>
          <a:p>
            <a:pPr lvl="1">
              <a:spcAft>
                <a:spcPts val="800"/>
              </a:spcAft>
            </a:pPr>
            <a:r>
              <a:rPr sz="1600"/>
              <a:t>- Un caso cumple si el status y el tipo de error coinciden con lo esperado (y, si es ok, las alertas)</a:t>
            </a:r>
          </a:p>
          <a:p>
            <a:pPr>
              <a:spcAft>
                <a:spcPts val="800"/>
              </a:spcAft>
            </a:pPr>
            <a:r>
              <a:rPr sz="1900"/>
              <a:t>• Entradas inválidas ejecutadas: entradas que el contrato habría rechazado y que la política dejó correr</a:t>
            </a:r>
          </a:p>
          <a:p>
            <a:pPr>
              <a:spcAft>
                <a:spcPts val="800"/>
              </a:spcAft>
            </a:pPr>
            <a:r>
              <a:rPr sz="1900"/>
              <a:t>• Salidas inválidas aceptadas: salidas que rompen el contrato de salida y llegaron como ok</a:t>
            </a:r>
          </a:p>
          <a:p>
            <a:pPr>
              <a:spcAft>
                <a:spcPts val="800"/>
              </a:spcAft>
            </a:pPr>
            <a:r>
              <a:rPr sz="1900"/>
              <a:t>• Intentos totales</a:t>
            </a:r>
          </a:p>
          <a:p>
            <a:pPr>
              <a:spcAft>
                <a:spcPts val="800"/>
              </a:spcAft>
            </a:pPr>
            <a:r>
              <a:rPr sz="1900"/>
              <a:t>• Reintentos inútiles</a:t>
            </a:r>
          </a:p>
          <a:p>
            <a:pPr lvl="1">
              <a:spcAft>
                <a:spcPts val="800"/>
              </a:spcAft>
            </a:pPr>
            <a:r>
              <a:rPr sz="1600"/>
              <a:t>- Intentos hechos después de un error que reintentando no se arregla</a:t>
            </a:r>
          </a:p>
          <a:p>
            <a:pPr>
              <a:spcAft>
                <a:spcPts val="800"/>
              </a:spcAft>
            </a:pPr>
            <a:r>
              <a:rPr sz="1900"/>
              <a:t>• Latencia media y máxima por caso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Ejemplo: la misma entrada bajo A y bajo B-D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657600"/>
                <a:gridCol w="3474720"/>
              </a:tblGrid>
              <a:tr h="914400">
                <a:tc>
                  <a:txBody>
                    <a:bodyPr/>
                    <a:lstStyle/>
                    <a:p>
                      <a:r>
                        <a:rPr sz="1500"/>
                        <a:t>Caso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Política A (sin contratos)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Políticas B, C y D</a:t>
                      </a:r>
                    </a:p>
                  </a:txBody>
                  <a:tcPr marT="27432" marB="27432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/>
                        <a:t>Argumento extra</a:t>
                      </a:r>
                    </a:p>
                    <a:p>
                      <a:r>
                        <a:rPr sz="1500"/>
                        <a:t>{ocid, entidad: "HOSPITAL GENERAL DE JAEN"}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ok: ignora el argumento en silencio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validation: el argumento extra no existe</a:t>
                      </a:r>
                    </a:p>
                  </a:txBody>
                  <a:tcPr marT="27432" marB="27432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/>
                        <a:t>Ítem como texto</a:t>
                      </a:r>
                    </a:p>
                    <a:p>
                      <a:r>
                        <a:rPr sz="1500"/>
                        <a:t>tender_item_id: "21314522"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error genérico: busca el ítem como texto y no lo halla, como si no existiera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validation: el tipo del argumento es incorrecto</a:t>
                      </a:r>
                    </a:p>
                  </a:txBody>
                  <a:tcPr marT="27432" marB="27432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/>
                        <a:t>Salida mal formada</a:t>
                      </a:r>
                    </a:p>
                    <a:p>
                      <a:r>
                        <a:rPr sz="1500"/>
                        <a:t>n_postores = -1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ok con n_postores = -1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output_contract: se bloquea y no se reintenta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120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Sin contrato, A acepta un dato falso y lo pasa al LLM como si fuera correcto</a:t>
            </a:r>
          </a:p>
          <a:p>
            <a:pPr>
              <a:spcAft>
                <a:spcPts val="800"/>
              </a:spcAft>
            </a:pPr>
            <a:r>
              <a:rPr sz="1900"/>
              <a:t>• El error de A en el ítem es engañoso: el ítem sí existe, lo que está mal es su tipo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97280"/>
                <a:gridCol w="1554480"/>
                <a:gridCol w="1463040"/>
                <a:gridCol w="1005840"/>
                <a:gridCol w="128016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400"/>
                        <a:t>Política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Cumplen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Entradas inválidas ejecutadas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Salidas inválidas aceptadas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Intentos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Reintentos inútiles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Latencia media (ms)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Latencia máx. (ms)</a:t>
                      </a:r>
                    </a:p>
                  </a:txBody>
                  <a:tcPr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A sin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161</a:t>
                      </a:r>
                    </a:p>
                  </a:txBody>
                  <a:tcPr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B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14/16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160</a:t>
                      </a:r>
                    </a:p>
                  </a:txBody>
                  <a:tcPr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C reintenta todo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58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301</a:t>
                      </a:r>
                    </a:p>
                  </a:txBody>
                  <a:tcPr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D reintento selectivo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299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 y D cumplen los 16 casos; B cumple 14 y A cumple 6</a:t>
            </a:r>
          </a:p>
          <a:p>
            <a:pPr>
              <a:spcAft>
                <a:spcPts val="800"/>
              </a:spcAft>
            </a:pPr>
            <a:r>
              <a:rPr sz="1900"/>
              <a:t>• D logra lo mismo que C con 19 intentos en vez de 29 y sin reintentos inútiles</a:t>
            </a:r>
          </a:p>
          <a:p>
            <a:pPr>
              <a:spcAft>
                <a:spcPts val="800"/>
              </a:spcAft>
            </a:pPr>
            <a:r>
              <a:rPr sz="1900"/>
              <a:t>• El detalle de cada caso está en cumplimiento_por_caso.csv y las trazas de cada intento en trazas.jsonl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gráfico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Azul: casos que cumplen; rojo: intentos; verde: reintentos inútiles</a:t>
            </a:r>
          </a:p>
          <a:p>
            <a:pPr>
              <a:spcAft>
                <a:spcPts val="800"/>
              </a:spcAft>
            </a:pPr>
            <a:r>
              <a:rPr sz="1800"/>
              <a:t>• Cumplir sube con cada capa: 6, 14, 16, 16</a:t>
            </a:r>
          </a:p>
          <a:p>
            <a:pPr>
              <a:spcAft>
                <a:spcPts val="800"/>
              </a:spcAft>
            </a:pPr>
            <a:r>
              <a:rPr sz="1800"/>
              <a:t>• C gasta 29 intentos, 10 de ellos inútiles</a:t>
            </a:r>
          </a:p>
          <a:p>
            <a:pPr>
              <a:spcAft>
                <a:spcPts val="800"/>
              </a:spcAft>
            </a:pPr>
            <a:r>
              <a:rPr sz="1800"/>
              <a:t>• D cumple lo mismo con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los casos donde alguna política falla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400"/>
                        <a:t>Caso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D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invalido_ocid_mal_formado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invalido_item_como_texto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invalido_argumento_extra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dominio_ocid_inexistente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dominio_item_de_otro_proceso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dominio_falta_item_en_proceso_de_104_items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transitorio_una_vez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transitorio_siempre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lento_siempre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salida_mal_formada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sí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/>
              <a:t>• Los otros 6 casos (los 4 válidos, lento_una_vez y error_interno) los cumplen las cuatro políticas</a:t>
            </a:r>
          </a:p>
          <a:p>
            <a:pPr>
              <a:spcAft>
                <a:spcPts val="800"/>
              </a:spcAft>
            </a:pPr>
            <a:r>
              <a:rPr sz="1700"/>
              <a:t>• A cumple error_interno por coincidencia: todo error le sale como execution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Lo que B no resuelve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B cumple 14 de 16. Los dos casos que no cumple son de infraestructura, no de entrada</a:t>
            </a:r>
          </a:p>
          <a:p>
            <a:pPr>
              <a:spcAft>
                <a:spcPts val="800"/>
              </a:spcAft>
            </a:pPr>
            <a:r>
              <a:rPr sz="2000"/>
              <a:t>• transitorio_una_vez: el índice falla en el primer intento</a:t>
            </a:r>
          </a:p>
          <a:p>
            <a:pPr lvl="1">
              <a:spcAft>
                <a:spcPts val="800"/>
              </a:spcAft>
            </a:pPr>
            <a:r>
              <a:rPr sz="1700"/>
              <a:t>- B devuelve el error transient y se rinde, aunque un segundo intento habría funcionado</a:t>
            </a:r>
          </a:p>
          <a:p>
            <a:pPr>
              <a:spcAft>
                <a:spcPts val="800"/>
              </a:spcAft>
            </a:pPr>
            <a:r>
              <a:rPr sz="2000"/>
              <a:t>• lento_siempre: la llamada tarda más de lo permitido</a:t>
            </a:r>
          </a:p>
          <a:p>
            <a:pPr lvl="1">
              <a:spcAft>
                <a:spcPts val="800"/>
              </a:spcAft>
            </a:pPr>
            <a:r>
              <a:rPr sz="1700"/>
              <a:t>- B no tiene timeout, así que espera hasta el final y devuelve ok cuando la especificación pide timeout</a:t>
            </a:r>
          </a:p>
          <a:p>
            <a:pPr>
              <a:spcAft>
                <a:spcPts val="800"/>
              </a:spcAft>
            </a:pPr>
            <a:r>
              <a:rPr sz="2000"/>
              <a:t>• Para esos dos casos hacen falta un timeout y un reintento</a:t>
            </a:r>
          </a:p>
          <a:p>
            <a:pPr lvl="1">
              <a:spcAft>
                <a:spcPts val="800"/>
              </a:spcAft>
            </a:pPr>
            <a:r>
              <a:rPr sz="1700"/>
              <a:t>- Eso es lo que agregan C y 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 y D: mismo cumplimiento, distinto gasto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Caso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Intentos en 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Intentos en D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dominio_ocid_inexistente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dominio_item_de_otro_proceso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dominio_falta_item_en_proceso_de_104_items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error_interno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salida_mal_formada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C repite 2 veces más estos 5 casos: 10 intentos inútiles</a:t>
            </a:r>
          </a:p>
          <a:p>
            <a:pPr>
              <a:spcAft>
                <a:spcPts val="800"/>
              </a:spcAft>
            </a:pPr>
            <a:r>
              <a:rPr sz="1800"/>
              <a:t>• La latencia media pasa de 34 ms en D a 58 ms en C</a:t>
            </a:r>
          </a:p>
          <a:p>
            <a:pPr>
              <a:spcAft>
                <a:spcPts val="800"/>
              </a:spcAft>
            </a:pPr>
            <a:r>
              <a:rPr sz="1800"/>
              <a:t>• Aquí no rompe nada, porque los fallos son deterministas y la herramienta no escribe</a:t>
            </a:r>
          </a:p>
          <a:p>
            <a:pPr lvl="1">
              <a:spcAft>
                <a:spcPts val="800"/>
              </a:spcAft>
            </a:pPr>
            <a:r>
              <a:rPr sz="1500"/>
              <a:t>- Con una herramienta que escriba, o con un deadline más corto, el reintento ingenuo sí rompería</a:t>
            </a:r>
          </a:p>
          <a:p>
            <a:pPr>
              <a:spcAft>
                <a:spcPts val="800"/>
              </a:spcAft>
            </a:pPr>
            <a:r>
              <a:rPr sz="1800"/>
              <a:t>• D reintenta solo los casos con transient y timeout, que son los que pueden arreglarse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Pruebas automáticas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tests/test_herramienta.py tiene 22 pruebas (pytest); todas pasan (results/exp3/pytest.txt)</a:t>
            </a:r>
          </a:p>
          <a:p>
            <a:pPr>
              <a:spcAft>
                <a:spcPts val="800"/>
              </a:spcAft>
            </a:pPr>
            <a:r>
              <a:rPr sz="1900"/>
              <a:t>• Cubren</a:t>
            </a:r>
          </a:p>
          <a:p>
            <a:pPr lvl="1">
              <a:spcAft>
                <a:spcPts val="800"/>
              </a:spcAft>
            </a:pPr>
            <a:r>
              <a:rPr sz="1600"/>
              <a:t>- la ejecución válida y el contrato de salida</a:t>
            </a:r>
          </a:p>
          <a:p>
            <a:pPr lvl="1">
              <a:spcAft>
                <a:spcPts val="800"/>
              </a:spcAft>
            </a:pPr>
            <a:r>
              <a:rPr sz="1600"/>
              <a:t>- 5 entradas inválidas y 3 errores de dominio sin reintento</a:t>
            </a:r>
          </a:p>
          <a:p>
            <a:pPr lvl="1">
              <a:spcAft>
                <a:spcPts val="800"/>
              </a:spcAft>
            </a:pPr>
            <a:r>
              <a:rPr sz="1600"/>
              <a:t>- transitorio una vez (se recupera), sin reintento (falla) y persistente (se corta a los 3 intentos)</a:t>
            </a:r>
          </a:p>
          <a:p>
            <a:pPr lvl="1">
              <a:spcAft>
                <a:spcPts val="800"/>
              </a:spcAft>
            </a:pPr>
            <a:r>
              <a:rPr sz="1600"/>
              <a:t>- lento una vez (timeout y luego ok) y lento siempre (respeta el deadline)</a:t>
            </a:r>
          </a:p>
          <a:p>
            <a:pPr lvl="1">
              <a:spcAft>
                <a:spcPts val="800"/>
              </a:spcAft>
            </a:pPr>
            <a:r>
              <a:rPr sz="1600"/>
              <a:t>- error interno y salida mal formada, sin reintento</a:t>
            </a:r>
          </a:p>
          <a:p>
            <a:pPr lvl="1">
              <a:spcAft>
                <a:spcPts val="800"/>
              </a:spcAft>
            </a:pPr>
            <a:r>
              <a:rPr sz="1600"/>
              <a:t>- herramienta desconocida, la función debe_reintentar, y que el contrato detecta alertas incoherentes</a:t>
            </a:r>
          </a:p>
          <a:p>
            <a:pPr>
              <a:spcAft>
                <a:spcPts val="800"/>
              </a:spcAft>
            </a:pPr>
            <a:r>
              <a:rPr sz="1900"/>
              <a:t>• Las pruebas fijan el comportamiento esperado; el experimento lo compara entre las cuatro políticas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Los fallos son simulados y deterministas: un transitorio real puede durar distinto y repetirse</a:t>
            </a:r>
          </a:p>
          <a:p>
            <a:pPr lvl="1">
              <a:spcAft>
                <a:spcPts val="800"/>
              </a:spcAft>
            </a:pPr>
            <a:r>
              <a:rPr sz="1600"/>
              <a:t>- Los tiempos solo prueban que el runtime respeta sus límites, no cómo se comporta el SEACE real</a:t>
            </a:r>
          </a:p>
          <a:p>
            <a:pPr>
              <a:spcAft>
                <a:spcPts val="800"/>
              </a:spcAft>
            </a:pPr>
            <a:r>
              <a:rPr sz="1900"/>
              <a:t>• 16 casos elegidos por nosotros: cubren cada tipo de error una o dos veces, no su frecuencia real</a:t>
            </a:r>
          </a:p>
          <a:p>
            <a:pPr>
              <a:spcAft>
                <a:spcPts val="800"/>
              </a:spcAft>
            </a:pPr>
            <a:r>
              <a:rPr sz="1900"/>
              <a:t>• El cumplimiento depende de la especificación que escribimos; otra especificación daría otro conteo</a:t>
            </a:r>
          </a:p>
          <a:p>
            <a:pPr>
              <a:spcAft>
                <a:spcPts val="800"/>
              </a:spcAft>
            </a:pPr>
            <a:r>
              <a:rPr sz="1900"/>
              <a:t>• Los límites de tiempo (100 ms, 300 ms, 3 intentos) se fijaron a mano y no se probaron otros valores</a:t>
            </a:r>
          </a:p>
          <a:p>
            <a:pPr>
              <a:spcAft>
                <a:spcPts val="800"/>
              </a:spcAft>
            </a:pPr>
            <a:r>
              <a:rPr sz="1900"/>
              <a:t>• La herramienta solo lee. Los resultados sobre reintentos no se pueden extender a una herramienta que escribe</a:t>
            </a:r>
          </a:p>
          <a:p>
            <a:pPr>
              <a:spcAft>
                <a:spcPts val="800"/>
              </a:spcAft>
            </a:pPr>
            <a:r>
              <a:rPr sz="1900"/>
              <a:t>• La latencia es de una sola corrida en una máquina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Lo que más cambia el comportamiento es el contrato de entrada</a:t>
            </a:r>
          </a:p>
          <a:p>
            <a:pPr lvl="1">
              <a:spcAft>
                <a:spcPts val="800"/>
              </a:spcAft>
            </a:pPr>
            <a:r>
              <a:rPr sz="1700"/>
              <a:t>- Sin él, 3 de 3 entradas inválidas se ejecutan y una de ellas devuelve ok</a:t>
            </a:r>
          </a:p>
          <a:p>
            <a:pPr lvl="1">
              <a:spcAft>
                <a:spcPts val="800"/>
              </a:spcAft>
            </a:pPr>
            <a:r>
              <a:rPr sz="1700"/>
              <a:t>- Con él, A pasa de 6 a 14 casos cumplidos (B)</a:t>
            </a:r>
          </a:p>
          <a:p>
            <a:pPr>
              <a:spcAft>
                <a:spcPts val="800"/>
              </a:spcAft>
            </a:pPr>
            <a:r>
              <a:rPr sz="2000"/>
              <a:t>• El timeout y el reintento agregan los 2 casos que B no cubre</a:t>
            </a:r>
          </a:p>
          <a:p>
            <a:pPr>
              <a:spcAft>
                <a:spcPts val="800"/>
              </a:spcAft>
            </a:pPr>
            <a:r>
              <a:rPr sz="2000"/>
              <a:t>• El reintento selectivo (D) recupera los fallos transitorios igual que el ingenuo (C)</a:t>
            </a:r>
          </a:p>
          <a:p>
            <a:pPr lvl="1">
              <a:spcAft>
                <a:spcPts val="800"/>
              </a:spcAft>
            </a:pPr>
            <a:r>
              <a:rPr sz="1700"/>
              <a:t>- Pero sin repetir errores que no se arreglan reintentando: 19 intentos y no 29</a:t>
            </a:r>
          </a:p>
          <a:p>
            <a:pPr>
              <a:spcAft>
                <a:spcPts val="800"/>
              </a:spcAft>
            </a:pPr>
            <a:r>
              <a:rPr sz="2000"/>
              <a:t>• Una salida rota no llega al LLM: B, C y D la bloquean como output_contract</a:t>
            </a:r>
          </a:p>
          <a:p>
            <a:pPr>
              <a:spcAft>
                <a:spcPts val="800"/>
              </a:spcAft>
            </a:pPr>
            <a:r>
              <a:rPr sz="2000"/>
              <a:t>• Los fallos son simulados; los tiempos no describen al SEACE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