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A0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Recall@1</c:v>
                </c:pt>
                <c:pt idx="1">
                  <c:v>Recall@3</c:v>
                </c:pt>
                <c:pt idx="2">
                  <c:v>Recall@5</c:v>
                </c:pt>
                <c:pt idx="3">
                  <c:v>MRR</c:v>
                </c:pt>
                <c:pt idx="4">
                  <c:v>nDCG@5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</c:v>
                </c:pt>
                <c:pt idx="1">
                  <c:v>0.545</c:v>
                </c:pt>
                <c:pt idx="2">
                  <c:v>0.74</c:v>
                </c:pt>
                <c:pt idx="3">
                  <c:v>0.5326</c:v>
                </c:pt>
                <c:pt idx="4">
                  <c:v>0.5669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Recall@1</c:v>
                </c:pt>
                <c:pt idx="1">
                  <c:v>Recall@3</c:v>
                </c:pt>
                <c:pt idx="2">
                  <c:v>Recall@5</c:v>
                </c:pt>
                <c:pt idx="3">
                  <c:v>MRR</c:v>
                </c:pt>
                <c:pt idx="4">
                  <c:v>nDCG@5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</c:v>
                </c:pt>
                <c:pt idx="1">
                  <c:v>0.72</c:v>
                </c:pt>
                <c:pt idx="2">
                  <c:v>0.88</c:v>
                </c:pt>
                <c:pt idx="3">
                  <c:v>0.7117</c:v>
                </c:pt>
                <c:pt idx="4">
                  <c:v>0.7168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Recall@1</c:v>
                </c:pt>
                <c:pt idx="1">
                  <c:v>Recall@3</c:v>
                </c:pt>
                <c:pt idx="2">
                  <c:v>Recall@5</c:v>
                </c:pt>
                <c:pt idx="3">
                  <c:v>MRR</c:v>
                </c:pt>
                <c:pt idx="4">
                  <c:v>nDCG@5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0.41</c:v>
                </c:pt>
                <c:pt idx="1">
                  <c:v>0.745</c:v>
                </c:pt>
                <c:pt idx="2">
                  <c:v>0.94</c:v>
                </c:pt>
                <c:pt idx="3">
                  <c:v>0.7308</c:v>
                </c:pt>
                <c:pt idx="4">
                  <c:v>0.7653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</c:v>
                </c:pt>
              </c:strCache>
            </c:strRef>
          </c:tx>
          <c:dLbls>
            <c:dLbl>
              <c:idx val="0"/>
              <c:tx>
                <c:rich>
                  <a:bodyPr/>
                  <a:lstStyle/>
                  <a:p>
                    <a:r>
                      <a:rPr sz="1100"/>
                      <a:t>0,61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/>
                      <a:t>0,88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/>
                      <a:t>0,90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/>
                      <a:t>0,88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/>
                      <a:t>0,86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Recall@1</c:v>
                </c:pt>
                <c:pt idx="1">
                  <c:v>Recall@3</c:v>
                </c:pt>
                <c:pt idx="2">
                  <c:v>Recall@5</c:v>
                </c:pt>
                <c:pt idx="3">
                  <c:v>MRR</c:v>
                </c:pt>
                <c:pt idx="4">
                  <c:v>nDCG@5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0.61</c:v>
                </c:pt>
                <c:pt idx="1">
                  <c:v>0.88</c:v>
                </c:pt>
                <c:pt idx="2">
                  <c:v>0.9</c:v>
                </c:pt>
                <c:pt idx="3">
                  <c:v>0.875</c:v>
                </c:pt>
                <c:pt idx="4">
                  <c:v>0.8622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experimento solo busca. La parte de generar la respuesta con un LLM es el experimento 2, que recibe los 5 primeros resultados de la condición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tres condiciones reciben las mismas consultas y buscan sobre los mismos pasajes. Cada condición agrega una pieza a la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e5 usa los prefijos query: y passage:, texto en minúsculas y vectores normalizados, igual que en la PC2. IndexFlatIP es búsqueda exacta; se comprobó que da el mismo orden que el producto interno en numpy.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par más largo que ve el Cross-Encoder tiene 285 tokens, dentro de su ventana de 512.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 el promedio de C sea más alto que el de B no basta para decir que C es mejor: el intervalo de C - B todavía incluye el cero.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828800"/>
            <a:ext cx="10515600" cy="1645920"/>
          </a:xfrm>
        </p:spPr>
        <p:txBody>
          <a:bodyPr/>
          <a:lstStyle/>
          <a:p>
            <a:r>
              <a:t>Experimento 1: recuperación y reranking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749039"/>
            <a:ext cx="10515600" cy="914400"/>
          </a:xfrm>
        </p:spPr>
        <p:txBody>
          <a:bodyPr/>
          <a:lstStyle/>
          <a:p>
            <a:r>
              <a:t>Examen Parcial CC0F4 - Tópicos de Ciencia de la Computación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¿De qué trata el experimento?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Un auditor pregunta por un proceso del SEACE y el sistema debe encontrar los pasajes donde está la respuesta</a:t>
            </a:r>
          </a:p>
          <a:p>
            <a:pPr lvl="1">
              <a:spcAft>
                <a:spcPts val="800"/>
              </a:spcAft>
            </a:pPr>
            <a:r>
              <a:rPr sz="1700"/>
              <a:t>- Ejemplo: ¿En qué proceso se compró el tóner Xerox con código de referencia 006R01830?</a:t>
            </a:r>
          </a:p>
          <a:p>
            <a:pPr>
              <a:spcAft>
                <a:spcPts val="800"/>
              </a:spcAft>
            </a:pPr>
            <a:r>
              <a:rPr sz="2000"/>
              <a:t>• Se comparan tres formas de buscar sobre el mismo material</a:t>
            </a:r>
          </a:p>
          <a:p>
            <a:pPr lvl="1">
              <a:spcAft>
                <a:spcPts val="800"/>
              </a:spcAft>
            </a:pPr>
            <a:r>
              <a:rPr sz="1700"/>
              <a:t>- A: búsqueda densa (embeddings + FAISS)</a:t>
            </a:r>
          </a:p>
          <a:p>
            <a:pPr lvl="1">
              <a:spcAft>
                <a:spcPts val="800"/>
              </a:spcAft>
            </a:pPr>
            <a:r>
              <a:rPr sz="1700"/>
              <a:t>- B: A + BM25 + fusión RRF</a:t>
            </a:r>
          </a:p>
          <a:p>
            <a:pPr lvl="1">
              <a:spcAft>
                <a:spcPts val="800"/>
              </a:spcAft>
            </a:pPr>
            <a:r>
              <a:rPr sz="1700"/>
              <a:t>- C: B + reranking con un Cross-Encoder</a:t>
            </a:r>
          </a:p>
          <a:p>
            <a:pPr>
              <a:spcAft>
                <a:spcPts val="800"/>
              </a:spcAft>
            </a:pPr>
            <a:r>
              <a:rPr sz="2000"/>
              <a:t>• Pregunta: ¿cómo cambian la recuperación de evidencia y su costo al agregar cada pieza?</a:t>
            </a:r>
          </a:p>
          <a:p>
            <a:pPr>
              <a:spcAft>
                <a:spcPts val="800"/>
              </a:spcAft>
            </a:pPr>
            <a:r>
              <a:rPr sz="2000"/>
              <a:t>• No se busca probar que un método es mejor en general, solo medir qué cambia y cuánto cuesta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Qué entra al experimento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Corpus: 55 procesos reales del SEACE partidos en 426 pasajes</a:t>
            </a:r>
          </a:p>
          <a:p>
            <a:pPr lvl="1">
              <a:spcAft>
                <a:spcPts val="800"/>
              </a:spcAft>
            </a:pPr>
            <a:r>
              <a:rPr sz="1600"/>
              <a:t>- Un pasaje es una parte del proceso: convocatoria, ítems, cronograma, postores, resultado, contrato</a:t>
            </a:r>
          </a:p>
          <a:p>
            <a:pPr lvl="1">
              <a:spcAft>
                <a:spcPts val="800"/>
              </a:spcAft>
            </a:pPr>
            <a:r>
              <a:rPr sz="1600"/>
              <a:t>- Cada pasaje tiene un id, por ejemplo E49-P05 (proceso E49, pasaje 5)</a:t>
            </a:r>
          </a:p>
          <a:p>
            <a:pPr>
              <a:spcAft>
                <a:spcPts val="800"/>
              </a:spcAft>
            </a:pPr>
            <a:r>
              <a:rPr sz="1900"/>
              <a:t>• 22 consultas: 20 con qrels y 2 de control sin evidencia en el corpus (Q21 y Q22)</a:t>
            </a:r>
          </a:p>
          <a:p>
            <a:pPr lvl="1">
              <a:spcAft>
                <a:spcPts val="800"/>
              </a:spcAft>
            </a:pPr>
            <a:r>
              <a:rPr sz="1600"/>
              <a:t>- Los 2 controles no entran en las métricas de este experimento, los usa el experimento 2</a:t>
            </a:r>
          </a:p>
          <a:p>
            <a:pPr>
              <a:spcAft>
                <a:spcPts val="800"/>
              </a:spcAft>
            </a:pPr>
            <a:r>
              <a:rPr sz="1900"/>
              <a:t>• 11 de las 20 consultas son difíciles</a:t>
            </a:r>
          </a:p>
          <a:p>
            <a:pPr lvl="1">
              <a:spcAft>
                <a:spcPts val="800"/>
              </a:spcAft>
            </a:pPr>
            <a:r>
              <a:rPr sz="1600"/>
              <a:t>- Distractores reales (cuatro compras de Office, dos de Adobe), códigos exactos, paráfrasis,</a:t>
            </a:r>
          </a:p>
          <a:p>
            <a:pPr lvl="1">
              <a:spcAft>
                <a:spcPts val="800"/>
              </a:spcAft>
            </a:pPr>
            <a:r>
              <a:rPr sz="1600"/>
              <a:t>- una consulta numérica, una contradicción y dos que necesitan varios pasajes</a:t>
            </a:r>
          </a:p>
          <a:p>
            <a:pPr>
              <a:spcAft>
                <a:spcPts val="800"/>
              </a:spcAft>
            </a:pPr>
            <a:r>
              <a:rPr sz="1900"/>
              <a:t>• Los qrels (qué pasajes son relevantes) se anotaron leyendo los pasajes y se congelaron con SHA-256</a:t>
            </a:r>
          </a:p>
          <a:p>
            <a:pPr lvl="1">
              <a:spcAft>
                <a:spcPts val="800"/>
              </a:spcAft>
            </a:pPr>
            <a:r>
              <a:rPr sz="1600"/>
              <a:t>- Se fijaron antes de correr cualquier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Unidad de recuperación: el pasaje con su encabezado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En A, B y C lo que se busca es un pasaje, con el encabezado de su proceso delante</a:t>
            </a:r>
          </a:p>
          <a:p>
            <a:pPr lvl="1">
              <a:spcAft>
                <a:spcPts val="800"/>
              </a:spcAft>
            </a:pPr>
            <a:r>
              <a:rPr sz="1700"/>
              <a:t>- Encabezado: nomenclatura y objeto del proceso | entidad</a:t>
            </a:r>
          </a:p>
          <a:p>
            <a:pPr lvl="1">
              <a:spcAft>
                <a:spcPts val="800"/>
              </a:spcAft>
            </a:pPr>
            <a:r>
              <a:rPr sz="1700"/>
              <a:t>- Así cada pasaje lleva la evidencia y también lo que lo identifica</a:t>
            </a:r>
          </a:p>
          <a:p>
            <a:pPr>
              <a:spcAft>
                <a:spcPts val="800"/>
              </a:spcAft>
            </a:pPr>
            <a:r>
              <a:rPr sz="2000"/>
              <a:t>• Referencia A0: la configuración de la PC2</a:t>
            </a:r>
          </a:p>
          <a:p>
            <a:pPr lvl="1">
              <a:spcAft>
                <a:spcPts val="800"/>
              </a:spcAft>
            </a:pPr>
            <a:r>
              <a:rPr sz="1700"/>
              <a:t>- Chunks de 180 palabras con 1 pasaje de solapamiento (86 chunks en total), solo búsqueda densa</a:t>
            </a:r>
          </a:p>
          <a:p>
            <a:pPr lvl="1">
              <a:spcAft>
                <a:spcPts val="800"/>
              </a:spcAft>
            </a:pPr>
            <a:r>
              <a:rPr sz="1700"/>
              <a:t>- En la PC2 el chunk podía separar la buena pro del ítem que la identifica (error N5)</a:t>
            </a:r>
          </a:p>
          <a:p>
            <a:pPr>
              <a:spcAft>
                <a:spcPts val="800"/>
              </a:spcAft>
            </a:pPr>
            <a:r>
              <a:rPr sz="2000"/>
              <a:t>• A0 se corre para medir el cambio de unidad en vez de suponerlo</a:t>
            </a:r>
          </a:p>
          <a:p>
            <a:pPr>
              <a:spcAft>
                <a:spcPts val="800"/>
              </a:spcAft>
            </a:pPr>
            <a:r>
              <a:rPr sz="2000"/>
              <a:t>• Los resultados de los chunks de A0 se pasan a pasajes para compararlos con los mismos qrels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Qué se compara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0" y="1280160"/>
            <a:ext cx="3200400" cy="73152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Consulta del auditor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2286000" y="2011680"/>
            <a:ext cx="2743200" cy="73152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80760" y="2011680"/>
            <a:ext cx="0" cy="73152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132320" y="2011680"/>
            <a:ext cx="2743200" cy="73152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2743200"/>
            <a:ext cx="3291840" cy="118872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A</a:t>
            </a:r>
          </a:p>
          <a:p>
            <a:pPr algn="ctr"/>
            <a:r>
              <a:rPr sz="1600">
                <a:solidFill>
                  <a:srgbClr val="000000"/>
                </a:solidFill>
              </a:rPr>
              <a:t>Búsqueda densa</a:t>
            </a:r>
          </a:p>
          <a:p>
            <a:pPr algn="ctr"/>
            <a:r>
              <a:rPr sz="1600">
                <a:solidFill>
                  <a:srgbClr val="000000"/>
                </a:solidFill>
              </a:rPr>
              <a:t>e5-small + FAISS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2743200"/>
            <a:ext cx="3291840" cy="118872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B</a:t>
            </a:r>
          </a:p>
          <a:p>
            <a:pPr algn="ctr"/>
            <a:r>
              <a:rPr sz="1600">
                <a:solidFill>
                  <a:srgbClr val="000000"/>
                </a:solidFill>
              </a:rPr>
              <a:t>A + BM25 + fusión RRF</a:t>
            </a:r>
          </a:p>
          <a:p>
            <a:pPr algn="ctr"/>
            <a:r>
              <a:rPr sz="1600">
                <a:solidFill>
                  <a:srgbClr val="000000"/>
                </a:solidFill>
              </a:rPr>
              <a:t>(señal léxica)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2743200"/>
            <a:ext cx="3291840" cy="118872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C</a:t>
            </a:r>
          </a:p>
          <a:p>
            <a:pPr algn="ctr"/>
            <a:r>
              <a:rPr sz="1600">
                <a:solidFill>
                  <a:srgbClr val="000000"/>
                </a:solidFill>
              </a:rPr>
              <a:t>B + Cross-Encoder</a:t>
            </a:r>
          </a:p>
          <a:p>
            <a:pPr algn="ctr"/>
            <a:r>
              <a:rPr sz="1600">
                <a:solidFill>
                  <a:srgbClr val="000000"/>
                </a:solidFill>
              </a:rPr>
              <a:t>(reordena los 20 de B)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3337560"/>
            <a:ext cx="50292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26679" y="3337560"/>
            <a:ext cx="502921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108960" y="4572000"/>
            <a:ext cx="5943600" cy="82296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Salida de cada condición:</a:t>
            </a:r>
          </a:p>
          <a:p>
            <a:pPr algn="ctr"/>
            <a:r>
              <a:rPr sz="1600">
                <a:solidFill>
                  <a:srgbClr val="000000"/>
                </a:solidFill>
              </a:rPr>
              <a:t>lista de pasajes ordenados (top-20)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6000" y="3931920"/>
            <a:ext cx="1828800" cy="6400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3931920"/>
            <a:ext cx="0" cy="6400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046720" y="3931920"/>
            <a:ext cx="1828800" cy="6400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56692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/>
              <a:t>• A0 (referencia): la configuración de la PC2, chunks de 180 palabras y solo búsqueda densa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A: búsqueda densa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El modelo e5-small convierte la consulta y cada pasaje en un vector de 384 números</a:t>
            </a:r>
          </a:p>
          <a:p>
            <a:pPr>
              <a:spcAft>
                <a:spcPts val="800"/>
              </a:spcAft>
            </a:pPr>
            <a:r>
              <a:rPr sz="2000"/>
              <a:t>• FAISS compara el vector de la consulta con los 426 vectores y devuelve los más parecidos (top-20)</a:t>
            </a:r>
          </a:p>
          <a:p>
            <a:pPr>
              <a:spcAft>
                <a:spcPts val="800"/>
              </a:spcAft>
            </a:pPr>
            <a:r>
              <a:rPr sz="2000"/>
              <a:t>• Compara significado, no palabras: entiende paráfrasis</a:t>
            </a:r>
          </a:p>
          <a:p>
            <a:pPr lvl="1">
              <a:spcAft>
                <a:spcPts val="800"/>
              </a:spcAft>
            </a:pPr>
            <a:r>
              <a:rPr sz="1700"/>
              <a:t>- Ejemplo: "de su propiedad" y "equipo propio" quedan cerca</a:t>
            </a:r>
          </a:p>
          <a:p>
            <a:pPr>
              <a:spcAft>
                <a:spcPts val="800"/>
              </a:spcAft>
            </a:pPr>
            <a:r>
              <a:rPr sz="2000"/>
              <a:t>• Su punto débil son los códigos y nombres casi iguales</a:t>
            </a:r>
          </a:p>
          <a:p>
            <a:pPr lvl="1">
              <a:spcAft>
                <a:spcPts val="800"/>
              </a:spcAft>
            </a:pPr>
            <a:r>
              <a:rPr sz="1700"/>
              <a:t>- Q06: el proceso tiene cinco tóneres Xerox con códigos parecidos y para el embedding todos se parecen</a:t>
            </a:r>
          </a:p>
          <a:p>
            <a:pPr lvl="1">
              <a:spcAft>
                <a:spcPts val="800"/>
              </a:spcAft>
            </a:pPr>
            <a:r>
              <a:rPr sz="1700"/>
              <a:t>- El pasaje correcto queda en el puesto 4 (no entra al top-3)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B: A + BM25 + fusión RRF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BM25 busca por palabras exactas y da más peso a las palabras raras</a:t>
            </a:r>
          </a:p>
          <a:p>
            <a:pPr lvl="1">
              <a:spcAft>
                <a:spcPts val="800"/>
              </a:spcAft>
            </a:pPr>
            <a:r>
              <a:rPr sz="1600"/>
              <a:t>- El código 006r01830 aparece en un solo pasaje, así que BM25 lo detecta enseguida</a:t>
            </a:r>
          </a:p>
          <a:p>
            <a:pPr>
              <a:spcAft>
                <a:spcPts val="800"/>
              </a:spcAft>
            </a:pPr>
            <a:r>
              <a:rPr sz="1900"/>
              <a:t>• RRF junta la lista del denso y la de BM25 en una sola, usando la posición de cada pasaje</a:t>
            </a:r>
          </a:p>
          <a:p>
            <a:pPr lvl="1">
              <a:spcAft>
                <a:spcPts val="800"/>
              </a:spcAft>
            </a:pPr>
            <a:r>
              <a:rPr sz="1600"/>
              <a:t>- puntaje = suma de 1 / (60 + posición) en cada lista</a:t>
            </a:r>
          </a:p>
          <a:p>
            <a:pPr lvl="1">
              <a:spcAft>
                <a:spcPts val="800"/>
              </a:spcAft>
            </a:pPr>
            <a:r>
              <a:rPr sz="1600"/>
              <a:t>- Ejemplo: puesto 4 en el denso y puesto 1 en BM25 da 1/64 + 1/61 = 0,032</a:t>
            </a:r>
          </a:p>
          <a:p>
            <a:pPr lvl="1">
              <a:spcAft>
                <a:spcPts val="800"/>
              </a:spcAft>
            </a:pPr>
            <a:r>
              <a:rPr sz="1600"/>
              <a:t>- Un pasaje que solo aparece en una lista, en el puesto 1, da 1/61 = 0,016</a:t>
            </a:r>
          </a:p>
          <a:p>
            <a:pPr>
              <a:spcAft>
                <a:spcPts val="800"/>
              </a:spcAft>
            </a:pPr>
            <a:r>
              <a:rPr sz="1900"/>
              <a:t>• Así sube lo que ambas listas consideran bueno, sin comparar puntajes de escalas distintas</a:t>
            </a:r>
          </a:p>
          <a:p>
            <a:pPr>
              <a:spcAft>
                <a:spcPts val="800"/>
              </a:spcAft>
            </a:pPr>
            <a:r>
              <a:rPr sz="1900"/>
              <a:t>• De A a B cambian dos cosas a la vez (la señal léxica y la fusión)</a:t>
            </a:r>
          </a:p>
          <a:p>
            <a:pPr lvl="1">
              <a:spcAft>
                <a:spcPts val="800"/>
              </a:spcAft>
            </a:pPr>
            <a:r>
              <a:rPr sz="1600"/>
              <a:t>- No se puede saber cuál de las dos produce cada cambio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C: B + Cross-Encoder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El Cross-Encoder lee la consulta y el pasaje juntos y decide qué tan bien se corresponden</a:t>
            </a:r>
          </a:p>
          <a:p>
            <a:pPr lvl="1">
              <a:spcAft>
                <a:spcPts val="800"/>
              </a:spcAft>
            </a:pPr>
            <a:r>
              <a:rPr sz="1700"/>
              <a:t>- El denso, en cambio, vectoriza la consulta y el pasaje por separado</a:t>
            </a:r>
          </a:p>
          <a:p>
            <a:pPr>
              <a:spcAft>
                <a:spcPts val="800"/>
              </a:spcAft>
            </a:pPr>
            <a:r>
              <a:rPr sz="2000"/>
              <a:t>• Solo reordena los 20 candidatos que entrega B</a:t>
            </a:r>
          </a:p>
          <a:p>
            <a:pPr lvl="1">
              <a:spcAft>
                <a:spcPts val="800"/>
              </a:spcAft>
            </a:pPr>
            <a:r>
              <a:rPr sz="1700"/>
              <a:t>- No puede recuperar un pasaje que B no trajo</a:t>
            </a:r>
          </a:p>
          <a:p>
            <a:pPr lvl="1">
              <a:spcAft>
                <a:spcPts val="800"/>
              </a:spcAft>
            </a:pPr>
            <a:r>
              <a:rPr sz="1700"/>
              <a:t>- Por eso B frente a C mide el efecto incremental del reranker</a:t>
            </a:r>
          </a:p>
          <a:p>
            <a:pPr>
              <a:spcAft>
                <a:spcPts val="800"/>
              </a:spcAft>
            </a:pPr>
            <a:r>
              <a:rPr sz="2000"/>
              <a:t>• Es más fino pero más lento: hay que correrlo una vez por cada candidato (20 pares por consulta)</a:t>
            </a:r>
          </a:p>
          <a:p>
            <a:pPr>
              <a:spcAft>
                <a:spcPts val="800"/>
              </a:spcAft>
            </a:pPr>
            <a:r>
              <a:rPr sz="2000"/>
              <a:t>• Modelo: mmarco-mMiniLMv2, multilingüe, entrenado con datos de búsqueda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Qué se mantiene igual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Mismos 426 pasajes y mismas 20 consultas con qrels (benchmark congelado)</a:t>
            </a:r>
          </a:p>
          <a:p>
            <a:pPr>
              <a:spcAft>
                <a:spcPts val="800"/>
              </a:spcAft>
            </a:pPr>
            <a:r>
              <a:rPr sz="2000"/>
              <a:t>• Mismo modelo de embeddings (e5-small con prefijos query:/passage:, minúsculas y normalización L2)</a:t>
            </a:r>
          </a:p>
          <a:p>
            <a:pPr>
              <a:spcAft>
                <a:spcPts val="800"/>
              </a:spcAft>
            </a:pPr>
            <a:r>
              <a:rPr sz="2000"/>
              <a:t>• Misma profundidad: cada recuperador entrega 20 candidatos</a:t>
            </a:r>
          </a:p>
          <a:p>
            <a:pPr>
              <a:spcAft>
                <a:spcPts val="800"/>
              </a:spcAft>
            </a:pPr>
            <a:r>
              <a:rPr sz="2000"/>
              <a:t>• BM25 con k1 = 1,5 y b = 0,75; RRF con k = 60</a:t>
            </a:r>
          </a:p>
          <a:p>
            <a:pPr>
              <a:spcAft>
                <a:spcPts val="800"/>
              </a:spcAft>
            </a:pPr>
            <a:r>
              <a:rPr sz="2000"/>
              <a:t>• Misma semilla (42), misma máquina (CPU, 8 hilos) y una llamada de calentamiento antes de medir</a:t>
            </a:r>
          </a:p>
          <a:p>
            <a:pPr>
              <a:spcAft>
                <a:spcPts val="800"/>
              </a:spcAft>
            </a:pPr>
            <a:r>
              <a:rPr sz="2000"/>
              <a:t>• Por eso las diferencias entre A, B y C se pueden atribuir a la pieza que se agregó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Cómo se mide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Recall@k: de los pasajes relevantes, qué fracción aparece en los k primeros (k = 1, 3, 5)</a:t>
            </a:r>
          </a:p>
          <a:p>
            <a:pPr>
              <a:spcAft>
                <a:spcPts val="800"/>
              </a:spcAft>
            </a:pPr>
            <a:r>
              <a:rPr sz="1900"/>
              <a:t>• MRR: 1 dividido entre la posición del primer pasaje relevante (puesto 1 = 1; puesto 4 = 0,25)</a:t>
            </a:r>
          </a:p>
          <a:p>
            <a:pPr>
              <a:spcAft>
                <a:spcPts val="800"/>
              </a:spcAft>
            </a:pPr>
            <a:r>
              <a:rPr sz="1900"/>
              <a:t>• nDCG@5: premia que los relevantes estén arriba, no solo que estén</a:t>
            </a:r>
          </a:p>
          <a:p>
            <a:pPr>
              <a:spcAft>
                <a:spcPts val="800"/>
              </a:spcAft>
            </a:pPr>
            <a:r>
              <a:rPr sz="1900"/>
              <a:t>• Latencia por etapa (media y p95): denso, BM25, RRF y Cross-Encoder</a:t>
            </a:r>
          </a:p>
          <a:p>
            <a:pPr>
              <a:spcAft>
                <a:spcPts val="800"/>
              </a:spcAft>
            </a:pPr>
            <a:r>
              <a:rPr sz="1900"/>
              <a:t>• Bootstrap pareado (5000 remuestreos): intervalo de confianza de la diferencia entre dos condiciones</a:t>
            </a:r>
          </a:p>
          <a:p>
            <a:pPr>
              <a:spcAft>
                <a:spcPts val="800"/>
              </a:spcAft>
            </a:pPr>
            <a:r>
              <a:rPr sz="1900"/>
              <a:t>• Tipo de fallo por consulta: acierta, recupera parte, mal ordenado o no lo trae</a:t>
            </a:r>
          </a:p>
          <a:p>
            <a:pPr>
              <a:spcAft>
                <a:spcPts val="800"/>
              </a:spcAft>
            </a:pPr>
            <a:r>
              <a:rPr sz="1900"/>
              <a:t>• Los qrels son binarios (relevante o no) y están sobre el id del pasaje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Ejemplo de métricas: consulta Q06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63040"/>
          <a:ext cx="10332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06240"/>
                <a:gridCol w="210312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sz="1800"/>
                        <a:t>Condición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Posición del pasaje E49-P05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Recall@3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MRR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A0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0,00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0,20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0,00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0,25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B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1,00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1,00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C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1,00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1,00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11480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• Q06 tiene un solo pasaje relevante</a:t>
            </a:r>
          </a:p>
          <a:p>
            <a:pPr lvl="1">
              <a:spcAft>
                <a:spcPts val="800"/>
              </a:spcAft>
            </a:pPr>
            <a:r>
              <a:rPr sz="1500"/>
              <a:t>- Si queda en el puesto 4 o 5, Recall@3 vale 0, pero Recall@5 sí lo cuenta</a:t>
            </a:r>
          </a:p>
          <a:p>
            <a:pPr lvl="1">
              <a:spcAft>
                <a:spcPts val="800"/>
              </a:spcAft>
            </a:pPr>
            <a:r>
              <a:rPr sz="1500"/>
              <a:t>- MRR baja a 0,25 o 0,2: sigue premiando que esté cerca de arriba</a:t>
            </a:r>
          </a:p>
          <a:p>
            <a:pPr>
              <a:spcAft>
                <a:spcPts val="800"/>
              </a:spcAft>
            </a:pPr>
            <a:r>
              <a:rPr sz="1800"/>
              <a:t>• En B y C el pasaje sube al puesto 1 y las dos métricas valen 1</a:t>
            </a:r>
          </a:p>
          <a:p>
            <a:pPr>
              <a:spcAft>
                <a:spcPts val="800"/>
              </a:spcAft>
            </a:pPr>
            <a:r>
              <a:rPr sz="1800"/>
              <a:t>• Cuando una consulta tiene dos pasajes relevantes, Recall@1 no puede pasar de 0,5</a:t>
            </a:r>
          </a:p>
          <a:p>
            <a:pPr lvl="1">
              <a:spcAft>
                <a:spcPts val="800"/>
              </a:spcAft>
            </a:pPr>
            <a:r>
              <a:rPr sz="1500"/>
              <a:t>- Por eso el Recall@1 promedio de C (0,61) es menor que su MRR (0,88)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Resultados: métricas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463040"/>
                <a:gridCol w="1463040"/>
                <a:gridCol w="1463040"/>
                <a:gridCol w="1463040"/>
                <a:gridCol w="1463040"/>
              </a:tblGrid>
              <a:tr h="502920">
                <a:tc>
                  <a:txBody>
                    <a:bodyPr/>
                    <a:lstStyle/>
                    <a:p>
                      <a:r>
                        <a:rPr sz="1800"/>
                        <a:t>Condición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Recall@1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Recall@3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Recall@5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MRR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nDCG@5</a:t>
                      </a:r>
                    </a:p>
                  </a:txBody>
                  <a:tcPr marT="27432" marB="27432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/>
                        <a:t>A0 (PC2)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0,20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0,55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0,74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0,53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0,57</a:t>
                      </a:r>
                    </a:p>
                  </a:txBody>
                  <a:tcPr marT="27432" marB="27432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/>
                        <a:t>A (denso)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0,40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0,72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0,88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0,71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0,72</a:t>
                      </a:r>
                    </a:p>
                  </a:txBody>
                  <a:tcPr marT="27432" marB="27432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/>
                        <a:t>B (A + BM25 + RRF)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0,41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0,75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 b="1"/>
                        <a:t>0,94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0,73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0,77</a:t>
                      </a:r>
                    </a:p>
                  </a:txBody>
                  <a:tcPr marT="27432" marB="27432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/>
                        <a:t>C (B + Cross-Encoder)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 b="1"/>
                        <a:t>0,61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 b="1"/>
                        <a:t>0,88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0,90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 b="1"/>
                        <a:t>0,88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 b="1"/>
                        <a:t>0,86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1148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En negrita, el mejor valor de cada columna</a:t>
            </a:r>
          </a:p>
          <a:p>
            <a:pPr>
              <a:spcAft>
                <a:spcPts val="800"/>
              </a:spcAft>
            </a:pPr>
            <a:r>
              <a:rPr sz="2000"/>
              <a:t>• Media sobre las 20 consultas con qrels</a:t>
            </a:r>
          </a:p>
          <a:p>
            <a:pPr>
              <a:spcAft>
                <a:spcPts val="800"/>
              </a:spcAft>
            </a:pPr>
            <a:r>
              <a:rPr sz="2000"/>
              <a:t>• C gana en Recall@1, Recall@3, MRR y nDCG@5; B gana en Recall@5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Resultados: gráfico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7315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13816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• Cada grupo de barras es una métrica</a:t>
            </a:r>
          </a:p>
          <a:p>
            <a:pPr>
              <a:spcAft>
                <a:spcPts val="800"/>
              </a:spcAft>
            </a:pPr>
            <a:r>
              <a:rPr sz="1800"/>
              <a:t>• Cada color es una condición</a:t>
            </a:r>
          </a:p>
          <a:p>
            <a:pPr>
              <a:spcAft>
                <a:spcPts val="800"/>
              </a:spcAft>
            </a:pPr>
            <a:r>
              <a:rPr sz="1800"/>
              <a:t>• Se rotulan los valores de C</a:t>
            </a:r>
          </a:p>
          <a:p>
            <a:pPr>
              <a:spcAft>
                <a:spcPts val="800"/>
              </a:spcAft>
            </a:pPr>
            <a:r>
              <a:rPr sz="1800"/>
              <a:t>• A0 es la más baja en todo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Interpretación de las métricas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La unidad importó: de A0 a A el MRR sube de 0,53 a 0,71</a:t>
            </a:r>
          </a:p>
          <a:p>
            <a:pPr lvl="1">
              <a:spcAft>
                <a:spcPts val="800"/>
              </a:spcAft>
            </a:pPr>
            <a:r>
              <a:rPr sz="1700"/>
              <a:t>- Solo se cambió de chunks de 180 palabras a pasaje con encabezado, con el mismo modelo</a:t>
            </a:r>
          </a:p>
          <a:p>
            <a:pPr>
              <a:spcAft>
                <a:spcPts val="800"/>
              </a:spcAft>
            </a:pPr>
            <a:r>
              <a:rPr sz="2000"/>
              <a:t>• B casi no se distingue de A</a:t>
            </a:r>
          </a:p>
          <a:p>
            <a:pPr lvl="1">
              <a:spcAft>
                <a:spcPts val="800"/>
              </a:spcAft>
            </a:pPr>
            <a:r>
              <a:rPr sz="1700"/>
              <a:t>- Recall@5 sube de 0,88 a 0,94 y el MRR apenas de 0,71 a 0,73</a:t>
            </a:r>
          </a:p>
          <a:p>
            <a:pPr>
              <a:spcAft>
                <a:spcPts val="800"/>
              </a:spcAft>
            </a:pPr>
            <a:r>
              <a:rPr sz="2000"/>
              <a:t>• C mejora sobre todo el principio de la lista</a:t>
            </a:r>
          </a:p>
          <a:p>
            <a:pPr lvl="1">
              <a:spcAft>
                <a:spcPts val="800"/>
              </a:spcAft>
            </a:pPr>
            <a:r>
              <a:rPr sz="1700"/>
              <a:t>- Recall@1 sube de 0,41 a 0,61 y el MRR de 0,73 a 0,88</a:t>
            </a:r>
          </a:p>
          <a:p>
            <a:pPr>
              <a:spcAft>
                <a:spcPts val="800"/>
              </a:spcAft>
            </a:pPr>
            <a:r>
              <a:rPr sz="2000"/>
              <a:t>• Recall@5 de C (0,90) es menor que el de B (0,94)</a:t>
            </a:r>
          </a:p>
          <a:p>
            <a:pPr lvl="1">
              <a:spcAft>
                <a:spcPts val="800"/>
              </a:spcAft>
            </a:pPr>
            <a:r>
              <a:rPr sz="1700"/>
              <a:t>- El reranker ordena mejor, pero en algunas consultas saca del top-5 un pasaje que B tenía dentro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Costo: latencia por etapa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62179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377440"/>
              </a:tblGrid>
              <a:tr h="457200">
                <a:tc>
                  <a:txBody>
                    <a:bodyPr/>
                    <a:lstStyle/>
                    <a:p>
                      <a:r>
                        <a:rPr sz="1700"/>
                        <a:t>Etapa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Tiempo medio (ms)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/>
                        <a:t>Denso (e5 + FAISS)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22,3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/>
                        <a:t>BM25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1,0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/>
                        <a:t>RRF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0,05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/>
                        <a:t>Cross-Encoder (20 pares)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1043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0" y="146304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828800"/>
                <a:gridCol w="1280160"/>
              </a:tblGrid>
              <a:tr h="457200">
                <a:tc>
                  <a:txBody>
                    <a:bodyPr/>
                    <a:lstStyle/>
                    <a:p>
                      <a:r>
                        <a:rPr sz="1700"/>
                        <a:t>Condición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Total medio (ms)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p95 (ms)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/>
                        <a:t>A0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25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31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/>
                        <a:t>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22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24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/>
                        <a:t>B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23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26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/>
                        <a:t>C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1066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2011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0624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BM25 y RRF casi no cuestan: B tarda lo mismo que A</a:t>
            </a:r>
          </a:p>
          <a:p>
            <a:pPr>
              <a:spcAft>
                <a:spcPts val="800"/>
              </a:spcAft>
            </a:pPr>
            <a:r>
              <a:rPr sz="1900"/>
              <a:t>• El Cross-Encoder domina el costo: C tarda unas 46 veces lo que B</a:t>
            </a:r>
          </a:p>
          <a:p>
            <a:pPr lvl="1">
              <a:spcAft>
                <a:spcPts val="800"/>
              </a:spcAft>
            </a:pPr>
            <a:r>
              <a:rPr sz="1600"/>
              <a:t>- Hay que evaluar 20 pares consulta-pasaje por cada consulta</a:t>
            </a:r>
          </a:p>
          <a:p>
            <a:pPr>
              <a:spcAft>
                <a:spcPts val="800"/>
              </a:spcAft>
            </a:pPr>
            <a:r>
              <a:rPr sz="1900"/>
              <a:t>• Medido en CPU (AMD Ryzen 7, 8 hilos) y una sola corrida, así que sirve de orden de magnitud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¿Las diferencias son reales? Bootstrap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3017520"/>
                <a:gridCol w="3017520"/>
              </a:tblGrid>
              <a:tr h="457200">
                <a:tc>
                  <a:txBody>
                    <a:bodyPr/>
                    <a:lstStyle/>
                    <a:p>
                      <a:r>
                        <a:rPr sz="1600"/>
                        <a:t>Comparación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Recall@3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MRR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nDCG@5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B - 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+0,025 [-0,125; 0,175]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+0,019 [-0,099; 0,148]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+0,049 [-0,028; 0,130]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C - B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+0,135 [-0,005; 0,295]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+0,144 [-0,008; 0,296]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+0,097 [-0,026; 0,209]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C - 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+0,160 [0,020; 0,325]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+0,163 [0,025; 0,305]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+0,145 [0,028; 0,253]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A - A0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+0,175 [-0,025; 0,375]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+0,179 [0,051; 0,319]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+0,150 [0,034; 0,270]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3192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Cada celda: diferencia de medias y su intervalo de confianza al 95 %</a:t>
            </a:r>
          </a:p>
          <a:p>
            <a:pPr>
              <a:spcAft>
                <a:spcPts val="800"/>
              </a:spcAft>
            </a:pPr>
            <a:r>
              <a:rPr sz="1900"/>
              <a:t>• Si el intervalo incluye el 0, con 20 consultas no se puede distinguir la diferencia de cero</a:t>
            </a:r>
          </a:p>
          <a:p>
            <a:pPr>
              <a:spcAft>
                <a:spcPts val="800"/>
              </a:spcAft>
            </a:pPr>
            <a:r>
              <a:rPr sz="1900"/>
              <a:t>• B - A y C - B cruzan el cero en las tres métricas</a:t>
            </a:r>
          </a:p>
          <a:p>
            <a:pPr>
              <a:spcAft>
                <a:spcPts val="800"/>
              </a:spcAft>
            </a:pPr>
            <a:r>
              <a:rPr sz="1900"/>
              <a:t>• C - A es la única comparación con las tres métricas por encima de cero</a:t>
            </a:r>
          </a:p>
          <a:p>
            <a:pPr>
              <a:spcAft>
                <a:spcPts val="800"/>
              </a:spcAft>
            </a:pPr>
            <a:r>
              <a:rPr sz="1900"/>
              <a:t>• A - A0 también, pero solo en MRR y nDCG@5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Tipos de fallo por consulta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377440"/>
                <a:gridCol w="2377440"/>
                <a:gridCol w="2194560"/>
              </a:tblGrid>
              <a:tr h="457200">
                <a:tc>
                  <a:txBody>
                    <a:bodyPr/>
                    <a:lstStyle/>
                    <a:p>
                      <a:r>
                        <a:rPr sz="1600"/>
                        <a:t>Condición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RETRIEVAL_OK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PARTIAL_RECALL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RANKING_ERROR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RETRIEVAL_MISS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A0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10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7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12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B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13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C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16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3192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Corte en k = 3, sobre las 20 consultas</a:t>
            </a:r>
          </a:p>
          <a:p>
            <a:pPr lvl="1">
              <a:spcAft>
                <a:spcPts val="800"/>
              </a:spcAft>
            </a:pPr>
            <a:r>
              <a:rPr sz="1600"/>
              <a:t>- RETRIEVAL_OK: todos los pasajes relevantes están en el top-3</a:t>
            </a:r>
          </a:p>
          <a:p>
            <a:pPr lvl="1">
              <a:spcAft>
                <a:spcPts val="800"/>
              </a:spcAft>
            </a:pPr>
            <a:r>
              <a:rPr sz="1600"/>
              <a:t>- PARTIAL_RECALL: algunos están en el top-3, otros no</a:t>
            </a:r>
          </a:p>
          <a:p>
            <a:pPr lvl="1">
              <a:spcAft>
                <a:spcPts val="800"/>
              </a:spcAft>
            </a:pPr>
            <a:r>
              <a:rPr sz="1600"/>
              <a:t>- RANKING_ERROR: están entre los candidatos, pero ninguno en el top-3</a:t>
            </a:r>
          </a:p>
          <a:p>
            <a:pPr lvl="1">
              <a:spcAft>
                <a:spcPts val="800"/>
              </a:spcAft>
            </a:pPr>
            <a:r>
              <a:rPr sz="1600"/>
              <a:t>- RETRIEVAL_MISS: ninguno está entre los candidatos</a:t>
            </a:r>
          </a:p>
          <a:p>
            <a:pPr>
              <a:spcAft>
                <a:spcPts val="800"/>
              </a:spcAft>
            </a:pPr>
            <a:r>
              <a:rPr sz="1900"/>
              <a:t>• De A0 a C los aciertos pasan de 10 a 16 y los errores de orden de 7 a 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Consultas analizadas: donde BM25 y el reranker ayudan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8961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r>
                        <a:rPr sz="1700"/>
                        <a:t>Consulta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Pasaje relevante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B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C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/>
                        <a:t>Q06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E49-P05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4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1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/>
                        <a:t>Q20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E12-P06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4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1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/>
                        <a:t>Q12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E50-P05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1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38328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• Posición del pasaje relevante en cada condición (1 = primero)</a:t>
            </a:r>
          </a:p>
          <a:p>
            <a:pPr>
              <a:spcAft>
                <a:spcPts val="800"/>
              </a:spcAft>
            </a:pPr>
            <a:r>
              <a:rPr sz="1800"/>
              <a:t>• Q06 (código 006R01830): BM25 pesa el código, que está en un solo pasaje, y B lo sube del puesto 4 al 1</a:t>
            </a:r>
          </a:p>
          <a:p>
            <a:pPr>
              <a:spcAft>
                <a:spcPts val="800"/>
              </a:spcAft>
            </a:pPr>
            <a:r>
              <a:rPr sz="1800"/>
              <a:t>• Q20 (antivirus del Programa Juntos): A y B dejan la buena pro en los puestos 4 y 5; C la sube al 1</a:t>
            </a:r>
          </a:p>
          <a:p>
            <a:pPr>
              <a:spcAft>
                <a:spcPts val="800"/>
              </a:spcAft>
            </a:pPr>
            <a:r>
              <a:rPr sz="1800"/>
              <a:t>• Q12 (único postor del tomógrafo Siemens): el pasaje de postores pasa del puesto 3 al 1 con C</a:t>
            </a:r>
          </a:p>
          <a:p>
            <a:pPr lvl="1">
              <a:spcAft>
                <a:spcPts val="800"/>
              </a:spcAft>
            </a:pPr>
            <a:r>
              <a:rPr sz="1500"/>
              <a:t>- El Cross-Encoder ve "único postor" junto a "Número de postores registrados: 1"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Consultas analizadas: donde fallan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8961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r>
                        <a:rPr sz="1700"/>
                        <a:t>Consulta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Pasaje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B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C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/>
                        <a:t>Q03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E45-P02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9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/>
                        <a:t>Q17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E37-P06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4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2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/>
                        <a:t>Q13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E48-P06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15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fuera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fuera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38328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• Q03 (Adobe admitiendo equivalente): C baja el ítem del puesto 1 al 9</a:t>
            </a:r>
          </a:p>
          <a:p>
            <a:pPr lvl="1">
              <a:spcAft>
                <a:spcPts val="800"/>
              </a:spcAft>
            </a:pPr>
            <a:r>
              <a:rPr sz="1500"/>
              <a:t>- Prefiere pasajes de Adobe sin equivalente (el distractor): premia "Adobe" y no pesa la condición</a:t>
            </a:r>
          </a:p>
          <a:p>
            <a:pPr>
              <a:spcAft>
                <a:spcPts val="800"/>
              </a:spcAft>
            </a:pPr>
            <a:r>
              <a:rPr sz="1800"/>
              <a:t>• Q17 (Office 365 del FONDEPES): B baja el pasaje del puesto 3 al 4 al adelantar a INACAL (también Office 365)</a:t>
            </a:r>
          </a:p>
          <a:p>
            <a:pPr lvl="1">
              <a:spcAft>
                <a:spcPts val="800"/>
              </a:spcAft>
            </a:pPr>
            <a:r>
              <a:rPr sz="1500"/>
              <a:t>- C lo deja en el puesto 2, todavía detrás del distractor</a:t>
            </a:r>
          </a:p>
          <a:p>
            <a:pPr>
              <a:spcAft>
                <a:spcPts val="800"/>
              </a:spcAft>
            </a:pPr>
            <a:r>
              <a:rPr sz="1800"/>
              <a:t>• Q13 (adjudicado más de 30 % sobre el valor referencial): falla en todas</a:t>
            </a:r>
          </a:p>
          <a:p>
            <a:pPr lvl="1">
              <a:spcAft>
                <a:spcPts val="800"/>
              </a:spcAft>
            </a:pPr>
            <a:r>
              <a:rPr sz="1500"/>
              <a:t>- Hay que comparar números y ningún recuperador lo hace; B y C ni siquiera lo traen entre los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Resultados negativos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El Recall@5 de C es menor que el de B</a:t>
            </a:r>
          </a:p>
          <a:p>
            <a:pPr lvl="1">
              <a:spcAft>
                <a:spcPts val="800"/>
              </a:spcAft>
            </a:pPr>
            <a:r>
              <a:rPr sz="1700"/>
              <a:t>- En Q03 y Q14 el reranker empuja fuera del top-5 un pasaje que B tenía dentro</a:t>
            </a:r>
          </a:p>
          <a:p>
            <a:pPr>
              <a:spcAft>
                <a:spcPts val="800"/>
              </a:spcAft>
            </a:pPr>
            <a:r>
              <a:rPr sz="2000"/>
              <a:t>• B no se distingue de A</a:t>
            </a:r>
          </a:p>
          <a:p>
            <a:pPr lvl="1">
              <a:spcAft>
                <a:spcPts val="800"/>
              </a:spcAft>
            </a:pPr>
            <a:r>
              <a:rPr sz="1700"/>
              <a:t>- BM25 gana en Q06 y Q02, pero la fusión baja el pasaje correcto en otras (Q17, Q10, Q11)</a:t>
            </a:r>
          </a:p>
          <a:p>
            <a:pPr lvl="1">
              <a:spcAft>
                <a:spcPts val="800"/>
              </a:spcAft>
            </a:pPr>
            <a:r>
              <a:rPr sz="1700"/>
              <a:t>- En MRR, B empeora en 6 consultas y mejora en 3</a:t>
            </a:r>
          </a:p>
          <a:p>
            <a:pPr>
              <a:spcAft>
                <a:spcPts val="800"/>
              </a:spcAft>
            </a:pPr>
            <a:r>
              <a:rPr sz="2000"/>
              <a:t>• C - B también cruza el cero: solo C - A es distinguible de cero</a:t>
            </a:r>
          </a:p>
          <a:p>
            <a:pPr>
              <a:spcAft>
                <a:spcPts val="800"/>
              </a:spcAft>
            </a:pPr>
            <a:r>
              <a:rPr sz="2000"/>
              <a:t>• Q13 no la resuelve ninguna condición</a:t>
            </a:r>
          </a:p>
          <a:p>
            <a:pPr>
              <a:spcAft>
                <a:spcPts val="800"/>
              </a:spcAft>
            </a:pPr>
            <a:r>
              <a:rPr sz="2000"/>
              <a:t>• Se conservan porque limitan lo que se puede afirmar del experimento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Conclusión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C es la mejor en Recall@1, Recall@3, MRR y nDCG@5, pero la diferencia es clara solo frente a A, no frente a B</a:t>
            </a:r>
          </a:p>
          <a:p>
            <a:pPr lvl="1">
              <a:spcAft>
                <a:spcPts val="800"/>
              </a:spcAft>
            </a:pPr>
            <a:r>
              <a:rPr sz="1700"/>
              <a:t>- Y cuesta cerca de 1 segundo por consulta en CPU, unas 46 veces lo que B</a:t>
            </a:r>
          </a:p>
          <a:p>
            <a:pPr>
              <a:spcAft>
                <a:spcPts val="800"/>
              </a:spcAft>
            </a:pPr>
            <a:r>
              <a:rPr sz="2000"/>
              <a:t>• El cambio más barato y con efecto claro fue la unidad de recuperación (A frente a A0)</a:t>
            </a:r>
          </a:p>
          <a:p>
            <a:pPr lvl="1">
              <a:spcAft>
                <a:spcPts val="800"/>
              </a:spcAft>
            </a:pPr>
            <a:r>
              <a:rPr sz="1700"/>
              <a:t>- El error N5 de la PC2 era de segmentación, no del modelo</a:t>
            </a:r>
          </a:p>
          <a:p>
            <a:pPr>
              <a:spcAft>
                <a:spcPts val="800"/>
              </a:spcAft>
            </a:pPr>
            <a:r>
              <a:rPr sz="2000"/>
              <a:t>• BM25 + RRF ayuda con códigos exactos (Q06) y perjudica cuando adelanta un distractor (Q17)</a:t>
            </a:r>
          </a:p>
          <a:p>
            <a:pPr>
              <a:spcAft>
                <a:spcPts val="800"/>
              </a:spcAft>
            </a:pPr>
            <a:r>
              <a:rPr sz="2000"/>
              <a:t>• No se declara que C sea mejor en general</a:t>
            </a:r>
          </a:p>
          <a:p>
            <a:pPr lvl="1">
              <a:spcAft>
                <a:spcPts val="800"/>
              </a:spcAft>
            </a:pPr>
            <a:r>
              <a:rPr sz="1700"/>
              <a:t>- Son 20 consultas anotadas por nosotros y el intervalo de C - B incluye el cero</a:t>
            </a:r>
          </a:p>
          <a:p>
            <a:pPr>
              <a:spcAft>
                <a:spcPts val="800"/>
              </a:spcAft>
            </a:pPr>
            <a:r>
              <a:rPr sz="2000"/>
              <a:t>• Los 5 primeros resultados de C son la evidencia que recibe el LLM en el experimento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