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Closed-book</c:v>
                </c:pt>
              </c:strCache>
            </c:strRef>
          </c:tx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Correctas</c:v>
                </c:pt>
                <c:pt idx="1">
                  <c:v>Parciales</c:v>
                </c:pt>
                <c:pt idx="2">
                  <c:v>Incorrectas</c:v>
                </c:pt>
                <c:pt idx="3">
                  <c:v>No responde</c:v>
                </c:pt>
                <c:pt idx="4">
                  <c:v>Abstención correcta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9</c:v>
                </c:pt>
                <c:pt idx="4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RAG</c:v>
                </c:pt>
              </c:strCache>
            </c:strRef>
          </c:tx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Correctas</c:v>
                </c:pt>
                <c:pt idx="1">
                  <c:v>Parciales</c:v>
                </c:pt>
                <c:pt idx="2">
                  <c:v>Incorrectas</c:v>
                </c:pt>
                <c:pt idx="3">
                  <c:v>No responde</c:v>
                </c:pt>
                <c:pt idx="4">
                  <c:v>Abstención correcta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1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s-MX"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s-MX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s-MX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43b9004-7b03-44fc-8f39-785ff3cd1e7c}"/>
      </c:ext>
    </c:extLst>
  </c:chart>
  <c:txPr>
    <a:bodyPr/>
    <a:lstStyle/>
    <a:p>
      <a:pPr>
        <a:defRPr lang="es-MX" sz="1800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RAG significa Retrieval-Augmented Generation: primero se recupera evidencia y luego se genera la respuesta con ella.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 único que cambia entre las dos condiciones es el bloque de contexto. Por eso cualquier diferencia se puede atribuir a la evidencia.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828800"/>
            <a:ext cx="10515600" cy="1645920"/>
          </a:xfrm>
        </p:spPr>
        <p:txBody>
          <a:bodyPr/>
          <a:lstStyle/>
          <a:p>
            <a:r>
              <a:t>Experimento 2: RAG y evidencia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749039"/>
            <a:ext cx="10515600" cy="914400"/>
          </a:xfrm>
        </p:spPr>
        <p:txBody>
          <a:bodyPr/>
          <a:lstStyle/>
          <a:p>
            <a:r>
              <a:t>Examen Parcial CC0F4 - Tópicos de Ciencia de la Computación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¿De qué trata el experimento?</a:t>
            </a:r>
            <a:endParaRPr sz="3200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• El experimento 1 buscó los pasajes. Aquí un LLM usa esos pasajes para responder</a:t>
            </a:r>
            <a:endParaRPr sz="2000"/>
          </a:p>
          <a:p>
            <a:pPr lvl="1">
              <a:spcAft>
                <a:spcPts val="800"/>
              </a:spcAft>
            </a:pPr>
            <a:r>
              <a:rPr sz="1700"/>
              <a:t>- RAG: el modelo recibe la pregunta y los 5 mejores pasajes de la condición C, y responde citándolos</a:t>
            </a:r>
            <a:endParaRPr sz="1700"/>
          </a:p>
          <a:p>
            <a:pPr>
              <a:spcAft>
                <a:spcPts val="800"/>
              </a:spcAft>
            </a:pPr>
            <a:r>
              <a:rPr sz="2000"/>
              <a:t>• Se compara contra closed-book: el mismo modelo, con la misma pregunta, pero sin pasajes</a:t>
            </a:r>
            <a:endParaRPr sz="2000"/>
          </a:p>
          <a:p>
            <a:pPr>
              <a:spcAft>
                <a:spcPts val="800"/>
              </a:spcAft>
            </a:pPr>
            <a:r>
              <a:rPr sz="2000"/>
              <a:t>• Preguntas del experimento</a:t>
            </a:r>
            <a:endParaRPr sz="2000"/>
          </a:p>
          <a:p>
            <a:pPr lvl="1">
              <a:spcAft>
                <a:spcPts val="800"/>
              </a:spcAft>
            </a:pPr>
            <a:r>
              <a:rPr sz="1700"/>
              <a:t>- ¿Entregar evidencia mejora la corrección y el sustento de las respuestas?</a:t>
            </a:r>
            <a:endParaRPr sz="1700"/>
          </a:p>
          <a:p>
            <a:pPr lvl="1">
              <a:spcAft>
                <a:spcPts val="800"/>
              </a:spcAft>
            </a:pPr>
            <a:r>
              <a:rPr sz="1700"/>
              <a:t>- ¿El modelo se abstiene cuando no hay evidencia?</a:t>
            </a:r>
            <a:endParaRPr sz="1700"/>
          </a:p>
          <a:p>
            <a:pPr>
              <a:spcAft>
                <a:spcPts val="800"/>
              </a:spcAft>
            </a:pPr>
            <a:r>
              <a:rPr sz="2000"/>
              <a:t>• La medida principal es una auditoría manual: leímos las respuestas y los pasajes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Qué entra al experimento</a:t>
            </a:r>
            <a:endParaRPr sz="3200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12 consultas fijadas antes de correr (marcadas exp2 en consultas.jsonl)</a:t>
            </a:r>
            <a:endParaRPr sz="1900"/>
          </a:p>
          <a:p>
            <a:pPr lvl="1">
              <a:spcAft>
                <a:spcPts val="800"/>
              </a:spcAft>
            </a:pPr>
            <a:r>
              <a:rPr sz="1600"/>
              <a:t>- 10 tienen respuesta en el corpus: Q01, Q02, Q04, Q06, Q09, Q10, Q12, Q14, Q15 y Q17</a:t>
            </a:r>
            <a:endParaRPr sz="1600"/>
          </a:p>
          <a:p>
            <a:pPr lvl="1">
              <a:spcAft>
                <a:spcPts val="800"/>
              </a:spcAft>
            </a:pPr>
            <a:r>
              <a:rPr sz="1600"/>
              <a:t>- 2 son controles sin evidencia: Q21 (sanciones) y Q22 (plazo de entrega)</a:t>
            </a:r>
            <a:endParaRPr sz="1600"/>
          </a:p>
          <a:p>
            <a:pPr lvl="1">
              <a:spcAft>
                <a:spcPts val="800"/>
              </a:spcAft>
            </a:pPr>
            <a:r>
              <a:rPr sz="1600"/>
              <a:t>- En los controles lo correcto es abstenerse, porque el corpus no tiene ese dato</a:t>
            </a:r>
            <a:endParaRPr sz="1600"/>
          </a:p>
          <a:p>
            <a:pPr>
              <a:spcAft>
                <a:spcPts val="800"/>
              </a:spcAft>
            </a:pPr>
            <a:r>
              <a:rPr sz="1900"/>
              <a:t>• Modelo: Qwen2.5-1.5B-Instruct, con la revisión fijada</a:t>
            </a:r>
            <a:endParaRPr sz="1900"/>
          </a:p>
          <a:p>
            <a:pPr>
              <a:spcAft>
                <a:spcPts val="800"/>
              </a:spcAft>
            </a:pPr>
            <a:r>
              <a:rPr sz="1900"/>
              <a:t>• Contexto RAG: los 5 primeros pasajes de la condición C del experimento 1</a:t>
            </a:r>
            <a:endParaRPr sz="1900"/>
          </a:p>
          <a:p>
            <a:pPr>
              <a:spcAft>
                <a:spcPts val="800"/>
              </a:spcAft>
            </a:pPr>
            <a:r>
              <a:rPr sz="1900"/>
              <a:t>• Respuestas de referencia (referencias.jsonl): se usan para auditar y se congelaron antes de correr</a:t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Qué se compara</a:t>
            </a:r>
            <a:endParaRPr sz="3200"/>
          </a:p>
        </p:txBody>
      </p:sp>
      <p:sp>
        <p:nvSpPr>
          <p:cNvPr id="3" name="Rectangle 2"/>
          <p:cNvSpPr/>
          <p:nvPr/>
        </p:nvSpPr>
        <p:spPr>
          <a:xfrm>
            <a:off x="4480560" y="1143000"/>
            <a:ext cx="3200400" cy="6400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Pregunta del auditor</a:t>
            </a:r>
            <a:endParaRPr sz="1500">
              <a:solidFill>
                <a:srgbClr val="000000"/>
              </a:solidFill>
            </a:endParaRPr>
          </a:p>
        </p:txBody>
      </p:sp>
      <p:cxnSp>
        <p:nvCxnSpPr>
          <p:cNvPr id="4" name="Connector 3"/>
          <p:cNvCxnSpPr/>
          <p:nvPr/>
        </p:nvCxnSpPr>
        <p:spPr>
          <a:xfrm flipH="1">
            <a:off x="3429000" y="1783080"/>
            <a:ext cx="1691640" cy="50292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040880" y="1783080"/>
            <a:ext cx="1691640" cy="50292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463040" y="2286000"/>
            <a:ext cx="3931920" cy="100584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Closed-book</a:t>
            </a:r>
            <a:endParaRPr sz="1500">
              <a:solidFill>
                <a:srgbClr val="000000"/>
              </a:solidFill>
            </a:endParaRPr>
          </a:p>
          <a:p>
            <a:pPr algn="ctr"/>
            <a:r>
              <a:rPr sz="1500">
                <a:solidFill>
                  <a:srgbClr val="000000"/>
                </a:solidFill>
              </a:rPr>
              <a:t>Contexto vacío</a:t>
            </a:r>
            <a:endParaRPr sz="1500">
              <a:solidFill>
                <a:srgbClr val="000000"/>
              </a:solidFill>
            </a:endParaRPr>
          </a:p>
          <a:p>
            <a:pPr algn="ctr"/>
            <a:r>
              <a:rPr sz="1500">
                <a:solidFill>
                  <a:srgbClr val="000000"/>
                </a:solidFill>
              </a:rPr>
              <a:t>(no se entregan pasajes)</a:t>
            </a:r>
            <a:endParaRPr sz="1500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66560" y="2286000"/>
            <a:ext cx="3931920" cy="100584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RAG</a:t>
            </a:r>
            <a:endParaRPr sz="1500">
              <a:solidFill>
                <a:srgbClr val="000000"/>
              </a:solidFill>
            </a:endParaRPr>
          </a:p>
          <a:p>
            <a:pPr algn="ctr"/>
            <a:r>
              <a:rPr sz="1500">
                <a:solidFill>
                  <a:srgbClr val="000000"/>
                </a:solidFill>
              </a:rPr>
              <a:t>Contexto = top-5 de C</a:t>
            </a:r>
            <a:endParaRPr sz="1500">
              <a:solidFill>
                <a:srgbClr val="000000"/>
              </a:solidFill>
            </a:endParaRPr>
          </a:p>
          <a:p>
            <a:pPr algn="ctr"/>
            <a:r>
              <a:rPr sz="1500">
                <a:solidFill>
                  <a:srgbClr val="000000"/>
                </a:solidFill>
              </a:rPr>
              <a:t>(5 pasajes con su id)</a:t>
            </a:r>
            <a:endParaRPr sz="1500">
              <a:solidFill>
                <a:srgbClr val="000000"/>
              </a:solidFill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429000" y="3291840"/>
            <a:ext cx="1874520" cy="457199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858000" y="3291840"/>
            <a:ext cx="1874520" cy="457199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566160" y="3749039"/>
            <a:ext cx="5029200" cy="82296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Mismo prompt y mismo LLM</a:t>
            </a:r>
            <a:endParaRPr sz="1500">
              <a:solidFill>
                <a:srgbClr val="000000"/>
              </a:solidFill>
            </a:endParaRPr>
          </a:p>
          <a:p>
            <a:pPr algn="ctr"/>
            <a:r>
              <a:rPr sz="1500">
                <a:solidFill>
                  <a:srgbClr val="000000"/>
                </a:solidFill>
              </a:rPr>
              <a:t>Qwen2.5-1.5B, greedy, semilla 42</a:t>
            </a:r>
            <a:endParaRPr sz="1500">
              <a:solidFill>
                <a:srgbClr val="000000"/>
              </a:solidFill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4572000"/>
            <a:ext cx="0" cy="27432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566160" y="4846320"/>
            <a:ext cx="5029200" cy="6400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Respuesta JSON: respuesta, citas, abstención</a:t>
            </a:r>
            <a:endParaRPr sz="1500">
              <a:solidFill>
                <a:srgbClr val="000000"/>
              </a:solidFill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5486400"/>
            <a:ext cx="0" cy="27432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66160" y="5760720"/>
            <a:ext cx="5029200" cy="6400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Auditoría manual</a:t>
            </a:r>
            <a:endParaRPr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El prompt</a:t>
            </a:r>
            <a:endParaRPr sz="3200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El mensaje de sistema fija cuatro reglas</a:t>
            </a:r>
            <a:endParaRPr sz="1900"/>
          </a:p>
          <a:p>
            <a:pPr lvl="1">
              <a:spcAft>
                <a:spcPts val="800"/>
              </a:spcAft>
            </a:pPr>
            <a:r>
              <a:rPr sz="1600"/>
              <a:t>- 1. Si hay pasajes, usa solo esos y pon en "citas" los ids de los que sustentan la respuesta</a:t>
            </a:r>
            <a:endParaRPr sz="1600"/>
          </a:p>
          <a:p>
            <a:pPr lvl="1">
              <a:spcAft>
                <a:spcPts val="800"/>
              </a:spcAft>
            </a:pPr>
            <a:r>
              <a:rPr sz="1600"/>
              <a:t>- 2. Si no hay pasajes, responde con lo que sepas y deja "citas" vacía</a:t>
            </a:r>
            <a:endParaRPr sz="1600"/>
          </a:p>
          <a:p>
            <a:pPr lvl="1">
              <a:spcAft>
                <a:spcPts val="800"/>
              </a:spcAft>
            </a:pPr>
            <a:r>
              <a:rPr sz="1600"/>
              <a:t>- 3. Si no tienes la información, no adivines: "abstencion": true y explica qué falta</a:t>
            </a:r>
            <a:endParaRPr sz="1600"/>
          </a:p>
          <a:p>
            <a:pPr lvl="1">
              <a:spcAft>
                <a:spcPts val="800"/>
              </a:spcAft>
            </a:pPr>
            <a:r>
              <a:rPr sz="1600"/>
              <a:t>- 4. No inventes identificadores, nombres, montos ni fechas</a:t>
            </a:r>
            <a:endParaRPr sz="1600"/>
          </a:p>
          <a:p>
            <a:pPr>
              <a:spcAft>
                <a:spcPts val="800"/>
              </a:spcAft>
            </a:pPr>
            <a:r>
              <a:rPr sz="1900"/>
              <a:t>• El mensaje del usuario trae la pregunta y el contexto</a:t>
            </a:r>
            <a:endParaRPr sz="1900"/>
          </a:p>
          <a:p>
            <a:pPr lvl="1">
              <a:spcAft>
                <a:spcPts val="800"/>
              </a:spcAft>
            </a:pPr>
            <a:r>
              <a:rPr sz="1600"/>
              <a:t>- Cada pasaje empieza con su id entre corchetes, por ejemplo [E49-P05], seguido del encabezado del proceso y su texto</a:t>
            </a:r>
            <a:endParaRPr sz="1600"/>
          </a:p>
          <a:p>
            <a:pPr>
              <a:spcAft>
                <a:spcPts val="800"/>
              </a:spcAft>
            </a:pPr>
            <a:r>
              <a:rPr sz="1900"/>
              <a:t>• El mismo prompt se usa en las dos condiciones; en closed-book el contexto dice "(no se entregan pasajes)"</a:t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La salida del modelo</a:t>
            </a:r>
            <a:endParaRPr sz="3200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515600" cy="173736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>
                <a:solidFill>
                  <a:srgbClr val="000000"/>
                </a:solidFill>
              </a:rPr>
              <a:t>{"respuesta": "El tóner Xerox 006R01830 fue comprado en el proceso RES-PROC-161-2025-RE-1, ítem 4",</a:t>
            </a:r>
            <a:endParaRPr sz="1600">
              <a:solidFill>
                <a:srgbClr val="000000"/>
              </a:solidFill>
            </a:endParaRPr>
          </a:p>
          <a:p>
            <a:pPr algn="ctr"/>
            <a:r>
              <a:rPr sz="1600">
                <a:solidFill>
                  <a:srgbClr val="000000"/>
                </a:solidFill>
              </a:rPr>
              <a:t>"citas": ["E49-P05"],</a:t>
            </a:r>
            <a:endParaRPr sz="1600">
              <a:solidFill>
                <a:srgbClr val="000000"/>
              </a:solidFill>
            </a:endParaRPr>
          </a:p>
          <a:p>
            <a:pPr algn="ctr"/>
            <a:r>
              <a:rPr sz="1600">
                <a:solidFill>
                  <a:srgbClr val="000000"/>
                </a:solidFill>
              </a:rPr>
              <a:t>"abstencion": false}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3383280"/>
            <a:ext cx="110642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Ejemplo real: respuesta del modelo con RAG a la consulta Q06</a:t>
            </a:r>
            <a:endParaRPr sz="1900"/>
          </a:p>
          <a:p>
            <a:pPr>
              <a:spcAft>
                <a:spcPts val="800"/>
              </a:spcAft>
            </a:pPr>
            <a:r>
              <a:rPr sz="1900"/>
              <a:t>• respuesta: el texto breve en español</a:t>
            </a:r>
            <a:endParaRPr sz="1900"/>
          </a:p>
          <a:p>
            <a:pPr>
              <a:spcAft>
                <a:spcPts val="800"/>
              </a:spcAft>
            </a:pPr>
            <a:r>
              <a:rPr sz="1900"/>
              <a:t>• citas: los ids de los pasajes que dice usar</a:t>
            </a:r>
            <a:endParaRPr sz="1900"/>
          </a:p>
          <a:p>
            <a:pPr>
              <a:spcAft>
                <a:spcPts val="800"/>
              </a:spcAft>
            </a:pPr>
            <a:r>
              <a:rPr sz="1900"/>
              <a:t>• abstencion: true si decide que no tiene la información</a:t>
            </a:r>
            <a:endParaRPr sz="1900"/>
          </a:p>
          <a:p>
            <a:pPr>
              <a:spcAft>
                <a:spcPts val="800"/>
              </a:spcAft>
            </a:pPr>
            <a:r>
              <a:rPr sz="1900"/>
              <a:t>• El formato fijo permite revisar automáticamente si el JSON es válido y si las citas existen</a:t>
            </a:r>
            <a:endParaRPr sz="1900"/>
          </a:p>
          <a:p>
            <a:pPr>
              <a:spcAft>
                <a:spcPts val="800"/>
              </a:spcAft>
            </a:pPr>
            <a:r>
              <a:rPr sz="1900"/>
              <a:t>• Pero un JSON válido no dice si la respuesta es verdadera: eso lo revisa la auditoría</a:t>
            </a:r>
            <a:endParaRPr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Qué se mantiene igual</a:t>
            </a:r>
            <a:endParaRPr sz="3200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Mismo modelo: Qwen2.5-1.5B-Instruct con la revisión fijada</a:t>
            </a:r>
            <a:endParaRPr sz="1900"/>
          </a:p>
          <a:p>
            <a:pPr>
              <a:spcAft>
                <a:spcPts val="800"/>
              </a:spcAft>
            </a:pPr>
            <a:r>
              <a:rPr sz="1900"/>
              <a:t>• Decoding greedy (do_sample = False), repetition_penalty = 1,0, máximo 192 tokens nuevos, semilla 42</a:t>
            </a:r>
            <a:endParaRPr sz="1900"/>
          </a:p>
          <a:p>
            <a:pPr>
              <a:spcAft>
                <a:spcPts val="800"/>
              </a:spcAft>
            </a:pPr>
            <a:r>
              <a:rPr sz="1900"/>
              <a:t>• Mismo prompt, guardado antes de generar las respuestas</a:t>
            </a:r>
            <a:endParaRPr sz="1900"/>
          </a:p>
          <a:p>
            <a:pPr>
              <a:spcAft>
                <a:spcPts val="800"/>
              </a:spcAft>
            </a:pPr>
            <a:r>
              <a:rPr sz="1900"/>
              <a:t>• Mismas 12 preguntas</a:t>
            </a:r>
            <a:endParaRPr sz="1900"/>
          </a:p>
          <a:p>
            <a:pPr>
              <a:spcAft>
                <a:spcPts val="800"/>
              </a:spcAft>
            </a:pPr>
            <a:r>
              <a:rPr sz="1900"/>
              <a:t>• El formato del JSON se revisó antes solo con Q05 y Q16, que no forman parte del experimento</a:t>
            </a:r>
            <a:endParaRPr sz="1900"/>
          </a:p>
          <a:p>
            <a:pPr lvl="1">
              <a:spcAft>
                <a:spcPts val="800"/>
              </a:spcAft>
            </a:pPr>
            <a:r>
              <a:rPr sz="1600"/>
              <a:t>- Así no se ajustó el prompt mirando las consultas que se evalúan</a:t>
            </a:r>
            <a:endParaRPr sz="1600"/>
          </a:p>
          <a:p>
            <a:pPr>
              <a:spcAft>
                <a:spcPts val="800"/>
              </a:spcAft>
            </a:pPr>
            <a:r>
              <a:rPr sz="1900"/>
              <a:t>• Con greedy no hay azar: la diferencia entre closed-book y RAG se explica por el contexto</a:t>
            </a:r>
            <a:endParaRPr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Por qué el mismo prompt en las dos condiciones</a:t>
            </a:r>
            <a:endParaRPr sz="3200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Si closed-book tuviera la regla "usa solo los pasajes", se abstendría siempre</a:t>
            </a:r>
            <a:endParaRPr sz="1900"/>
          </a:p>
          <a:p>
            <a:pPr lvl="1">
              <a:spcAft>
                <a:spcPts val="800"/>
              </a:spcAft>
            </a:pPr>
            <a:r>
              <a:rPr sz="1600"/>
              <a:t>- La comparación no diría nada, porque no habría respuesta que comparar</a:t>
            </a:r>
            <a:endParaRPr sz="1600"/>
          </a:p>
          <a:p>
            <a:pPr>
              <a:spcAft>
                <a:spcPts val="800"/>
              </a:spcAft>
            </a:pPr>
            <a:r>
              <a:rPr sz="1900"/>
              <a:t>• Por eso la regla dice: si hay pasajes, usa solo esos y cítalos; si no hay, responde con lo que sepas</a:t>
            </a:r>
            <a:endParaRPr sz="1900"/>
          </a:p>
          <a:p>
            <a:pPr lvl="1">
              <a:spcAft>
                <a:spcPts val="800"/>
              </a:spcAft>
            </a:pPr>
            <a:r>
              <a:rPr sz="1600"/>
              <a:t>- En ambos casos, abstente si no tienes la información</a:t>
            </a:r>
            <a:endParaRPr sz="1600"/>
          </a:p>
          <a:p>
            <a:pPr>
              <a:spcAft>
                <a:spcPts val="800"/>
              </a:spcAft>
            </a:pPr>
            <a:r>
              <a:rPr sz="1900"/>
              <a:t>• Así las dos condiciones pueden responder o abstenerse, y se compara cómo lo hacen</a:t>
            </a:r>
            <a:endParaRPr sz="1900"/>
          </a:p>
          <a:p>
            <a:pPr>
              <a:spcAft>
                <a:spcPts val="800"/>
              </a:spcAft>
            </a:pPr>
            <a:r>
              <a:rPr sz="1900"/>
              <a:t>• Por qué top-5 y no top-3</a:t>
            </a:r>
            <a:endParaRPr sz="1900"/>
          </a:p>
          <a:p>
            <a:pPr lvl="1">
              <a:spcAft>
                <a:spcPts val="800"/>
              </a:spcAft>
            </a:pPr>
            <a:r>
              <a:rPr sz="1600"/>
              <a:t>- Varias respuestas necesitan dos pasajes del mismo proceso (postores y buena pro, objeto e ítem)</a:t>
            </a:r>
            <a:endParaRPr sz="1600"/>
          </a:p>
          <a:p>
            <a:pPr lvl="1">
              <a:spcAft>
                <a:spcPts val="800"/>
              </a:spcAft>
            </a:pPr>
            <a:r>
              <a:rPr sz="1600"/>
              <a:t>- C tiene Recall@5 = 0,90 frente a Recall@3 = 0,88, y se fijó antes de correr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Cómo se mide</a:t>
            </a:r>
            <a:endParaRPr sz="3200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• Corrección de la respuesta (manual, contra la referencia)</a:t>
            </a:r>
            <a:endParaRPr sz="1800"/>
          </a:p>
          <a:p>
            <a:pPr lvl="1">
              <a:spcAft>
                <a:spcPts val="800"/>
              </a:spcAft>
            </a:pPr>
            <a:r>
              <a:rPr sz="1500"/>
              <a:t>- correcta, parcial, incorrecta (afirma algo falso), no responde (se abstuvo aunque la evidencia estaba) o abstención correcta (control)</a:t>
            </a:r>
            <a:endParaRPr sz="1500"/>
          </a:p>
          <a:p>
            <a:pPr>
              <a:spcAft>
                <a:spcPts val="800"/>
              </a:spcAft>
            </a:pPr>
            <a:r>
              <a:rPr sz="1800"/>
              <a:t>• Corrección de las citas</a:t>
            </a:r>
            <a:endParaRPr sz="1800"/>
          </a:p>
          <a:p>
            <a:pPr lvl="1">
              <a:spcAft>
                <a:spcPts val="800"/>
              </a:spcAft>
            </a:pPr>
            <a:r>
              <a:rPr sz="1500"/>
              <a:t>- Automático: ¿la cita está en el contexto? ¿está en los qrels?</a:t>
            </a:r>
            <a:endParaRPr sz="1500"/>
          </a:p>
          <a:p>
            <a:pPr lvl="1">
              <a:spcAft>
                <a:spcPts val="800"/>
              </a:spcAft>
            </a:pPr>
            <a:r>
              <a:rPr sz="1500"/>
              <a:t>- Manual: ¿la cita sustenta alguna afirmación? ¿la afirmación cita el pasaje que la sustenta?</a:t>
            </a:r>
            <a:endParaRPr sz="1500"/>
          </a:p>
          <a:p>
            <a:pPr>
              <a:spcAft>
                <a:spcPts val="800"/>
              </a:spcAft>
            </a:pPr>
            <a:r>
              <a:rPr sz="1800"/>
              <a:t>• Faithfulness</a:t>
            </a:r>
            <a:endParaRPr sz="1800"/>
          </a:p>
          <a:p>
            <a:pPr lvl="1">
              <a:spcAft>
                <a:spcPts val="800"/>
              </a:spcAft>
            </a:pPr>
            <a:r>
              <a:rPr sz="1500"/>
              <a:t>- La respuesta se divide en afirmaciones sueltas y cada una se marca como sustentada, no sustentada o contradicha</a:t>
            </a:r>
            <a:endParaRPr sz="1500"/>
          </a:p>
          <a:p>
            <a:pPr lvl="1">
              <a:spcAft>
                <a:spcPts val="800"/>
              </a:spcAft>
            </a:pPr>
            <a:r>
              <a:rPr sz="1500"/>
              <a:t>- Se verifica contra el contexto entregado (en closed-book, contra el corpus)</a:t>
            </a:r>
            <a:endParaRPr sz="1500"/>
          </a:p>
          <a:p>
            <a:pPr>
              <a:spcAft>
                <a:spcPts val="800"/>
              </a:spcAft>
            </a:pPr>
            <a:r>
              <a:rPr sz="1800"/>
              <a:t>• No se usa fluidez ni la opinión de otro LLM como prueba de calidad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Ejemplo de auditoría: consulta Q12</a:t>
            </a:r>
            <a:endParaRPr sz="32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772400"/>
              </a:tblGrid>
              <a:tr h="594360">
                <a:tc>
                  <a:txBody>
                    <a:bodyPr/>
                    <a:lstStyle/>
                    <a:p>
                      <a:r>
                        <a:rPr sz="1600"/>
                        <a:t>Pregunta</a:t>
                      </a:r>
                      <a:endParaRPr sz="16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¿Quién fue el único postor en el mantenimiento del tomógrafo Siemens del Hospital General de Jaén?</a:t>
                      </a:r>
                      <a:endParaRPr sz="1600"/>
                    </a:p>
                  </a:txBody>
                  <a:tcPr marT="27432" marB="27432"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600"/>
                        <a:t>Respuesta del modelo</a:t>
                      </a:r>
                      <a:endParaRPr sz="16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SIEMENS HEALTHCARE S.A.C. fue el único postor</a:t>
                      </a:r>
                      <a:endParaRPr sz="1600"/>
                    </a:p>
                  </a:txBody>
                  <a:tcPr marT="27432" marB="27432"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600"/>
                        <a:t>Cita del modelo</a:t>
                      </a:r>
                      <a:endParaRPr sz="16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E50-P01</a:t>
                      </a:r>
                      <a:endParaRPr sz="1600"/>
                    </a:p>
                  </a:txBody>
                  <a:tcPr marT="27432" marB="27432"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600"/>
                        <a:t>Pasaje que sí lo sustenta</a:t>
                      </a:r>
                      <a:endParaRPr sz="16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E50-P05 (postores), que estaba en el puesto 1 del contexto</a:t>
                      </a:r>
                      <a:endParaRPr sz="1600"/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02336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Corrección de la respuesta: correcta</a:t>
            </a:r>
            <a:endParaRPr sz="1900"/>
          </a:p>
          <a:p>
            <a:pPr>
              <a:spcAft>
                <a:spcPts val="800"/>
              </a:spcAft>
            </a:pPr>
            <a:r>
              <a:rPr sz="1900"/>
              <a:t>• Corrección de la cita: equivocada</a:t>
            </a:r>
            <a:endParaRPr sz="1900"/>
          </a:p>
          <a:p>
            <a:pPr lvl="1">
              <a:spcAft>
                <a:spcPts val="800"/>
              </a:spcAft>
            </a:pPr>
            <a:r>
              <a:rPr sz="1600"/>
              <a:t>- E50-P01 es la convocatoria por proveedor único; no nombra a la empresa ni cuenta postores</a:t>
            </a:r>
            <a:endParaRPr sz="1600"/>
          </a:p>
          <a:p>
            <a:pPr lvl="1">
              <a:spcAft>
                <a:spcPts val="800"/>
              </a:spcAft>
            </a:pPr>
            <a:r>
              <a:rPr sz="1600"/>
              <a:t>- La respuesta acierta, pero la cita no permite comprobarla</a:t>
            </a:r>
            <a:endParaRPr sz="1600"/>
          </a:p>
          <a:p>
            <a:pPr>
              <a:spcAft>
                <a:spcPts val="800"/>
              </a:spcAft>
            </a:pPr>
            <a:r>
              <a:rPr sz="1900"/>
              <a:t>• Por eso se auditan por separado la respuesta y sus citas</a:t>
            </a:r>
            <a:endParaRPr sz="1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Resultados: corrección de las respuestas</a:t>
            </a:r>
            <a:endParaRPr sz="32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560320"/>
                <a:gridCol w="2834640"/>
              </a:tblGrid>
              <a:tr h="475488">
                <a:tc>
                  <a:txBody>
                    <a:bodyPr/>
                    <a:lstStyle/>
                    <a:p/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Closed-book</a:t>
                      </a:r>
                      <a:endParaRPr sz="17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RAG (top-5 de C)</a:t>
                      </a:r>
                      <a:endParaRPr sz="1700"/>
                    </a:p>
                  </a:txBody>
                  <a:tcPr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/>
                        <a:t>JSON exacto y con formato</a:t>
                      </a:r>
                      <a:endParaRPr sz="17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12/12</a:t>
                      </a:r>
                      <a:endParaRPr sz="17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12/12</a:t>
                      </a:r>
                      <a:endParaRPr sz="1700"/>
                    </a:p>
                  </a:txBody>
                  <a:tcPr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/>
                        <a:t>Correctas</a:t>
                      </a:r>
                      <a:endParaRPr sz="17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0</a:t>
                      </a:r>
                      <a:endParaRPr sz="17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8</a:t>
                      </a:r>
                      <a:endParaRPr sz="1700"/>
                    </a:p>
                  </a:txBody>
                  <a:tcPr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/>
                        <a:t>Parciales</a:t>
                      </a:r>
                      <a:endParaRPr sz="17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0</a:t>
                      </a:r>
                      <a:endParaRPr sz="17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1</a:t>
                      </a:r>
                      <a:endParaRPr sz="1700"/>
                    </a:p>
                  </a:txBody>
                  <a:tcPr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/>
                        <a:t>Incorrectas (afirman algo falso)</a:t>
                      </a:r>
                      <a:endParaRPr sz="17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1</a:t>
                      </a:r>
                      <a:endParaRPr sz="17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3</a:t>
                      </a:r>
                      <a:endParaRPr sz="1700"/>
                    </a:p>
                  </a:txBody>
                  <a:tcPr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/>
                        <a:t>No responde (había evidencia)</a:t>
                      </a:r>
                      <a:endParaRPr sz="17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9</a:t>
                      </a:r>
                      <a:endParaRPr sz="17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0</a:t>
                      </a:r>
                      <a:endParaRPr sz="1700"/>
                    </a:p>
                  </a:txBody>
                  <a:tcPr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/>
                        <a:t>Abstención correcta en los 2 controles</a:t>
                      </a:r>
                      <a:endParaRPr sz="17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2/2</a:t>
                      </a:r>
                      <a:endParaRPr sz="17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0/2</a:t>
                      </a:r>
                      <a:endParaRPr sz="1700"/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916805"/>
            <a:ext cx="11064240" cy="383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12 consultas por condición: 10 con respuesta y 2 controles</a:t>
            </a:r>
            <a:endParaRPr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Resultados: gráfico</a:t>
            </a:r>
            <a:endParaRPr sz="3200"/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7498079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21040" y="164592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• Número de consultas de las 12</a:t>
            </a:r>
            <a:endParaRPr sz="1800"/>
          </a:p>
          <a:p>
            <a:pPr>
              <a:spcAft>
                <a:spcPts val="800"/>
              </a:spcAft>
            </a:pPr>
            <a:r>
              <a:rPr sz="1800"/>
              <a:t>• Closed-book casi nunca responde</a:t>
            </a:r>
            <a:endParaRPr sz="1800"/>
          </a:p>
          <a:p>
            <a:pPr>
              <a:spcAft>
                <a:spcPts val="800"/>
              </a:spcAft>
            </a:pPr>
            <a:r>
              <a:rPr sz="1800"/>
              <a:t>• RAG responde casi todo, a veces mal</a:t>
            </a:r>
            <a:endParaRPr sz="1800"/>
          </a:p>
          <a:p>
            <a:pPr>
              <a:spcAft>
                <a:spcPts val="800"/>
              </a:spcAft>
            </a:pPr>
            <a:r>
              <a:rPr sz="1800"/>
              <a:t>• En los controles ocurre lo contrario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Interpretación: la corrección</a:t>
            </a:r>
            <a:endParaRPr sz="3200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Sin evidencia el modelo casi no responde: 9 de 10 consultas sin respuesta</a:t>
            </a:r>
            <a:endParaRPr sz="1900"/>
          </a:p>
          <a:p>
            <a:pPr lvl="1">
              <a:spcAft>
                <a:spcPts val="800"/>
              </a:spcAft>
            </a:pPr>
            <a:r>
              <a:rPr sz="1600"/>
              <a:t>- Se abstiene (8 veces) o dice que no tiene información (en Q09, con abstención en false: JSON válido pero incoherente)</a:t>
            </a:r>
            <a:endParaRPr sz="1600"/>
          </a:p>
          <a:p>
            <a:pPr lvl="1">
              <a:spcAft>
                <a:spcPts val="800"/>
              </a:spcAft>
            </a:pPr>
            <a:r>
              <a:rPr sz="1600"/>
              <a:t>- Solo inventa una vez: en Q01 dice que la entidad fue el MTC, y fue la Agencia de Compras de las FF.AA.</a:t>
            </a:r>
            <a:endParaRPr sz="1600"/>
          </a:p>
          <a:p>
            <a:pPr>
              <a:spcAft>
                <a:spcPts val="800"/>
              </a:spcAft>
            </a:pPr>
            <a:r>
              <a:rPr sz="1900"/>
              <a:t>• Con evidencia responde bien 8 de 10 y a medias 1</a:t>
            </a:r>
            <a:endParaRPr sz="1900"/>
          </a:p>
          <a:p>
            <a:pPr lvl="1">
              <a:spcAft>
                <a:spcPts val="800"/>
              </a:spcAft>
            </a:pPr>
            <a:r>
              <a:rPr sz="1600"/>
              <a:t>- Pasa de no saber nada del SEACE a encontrar la respuesta en los pasajes</a:t>
            </a:r>
            <a:endParaRPr sz="1600"/>
          </a:p>
          <a:p>
            <a:pPr>
              <a:spcAft>
                <a:spcPts val="800"/>
              </a:spcAft>
            </a:pPr>
            <a:r>
              <a:rPr sz="1900"/>
              <a:t>• Pero RAG pierde la abstención: 0 de 2 controles, frente a 2 de 2 en closed-book</a:t>
            </a:r>
            <a:endParaRPr sz="1900"/>
          </a:p>
          <a:p>
            <a:pPr lvl="1">
              <a:spcAft>
                <a:spcPts val="800"/>
              </a:spcAft>
            </a:pPr>
            <a:r>
              <a:rPr sz="1600"/>
              <a:t>- El recuperador siempre entrega 5 pasajes, aunque ninguno sea relevante, y el modelo los usa para responder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Resultados: las citas</a:t>
            </a:r>
            <a:endParaRPr sz="32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7899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3840"/>
                <a:gridCol w="2926080"/>
              </a:tblGrid>
              <a:tr h="475488">
                <a:tc>
                  <a:txBody>
                    <a:bodyPr/>
                    <a:lstStyle/>
                    <a:p>
                      <a:r>
                        <a:rPr sz="1700"/>
                        <a:t>Medida</a:t>
                      </a:r>
                      <a:endParaRPr sz="17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RAG</a:t>
                      </a:r>
                      <a:endParaRPr sz="1700"/>
                    </a:p>
                  </a:txBody>
                  <a:tcPr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/>
                        <a:t>Citas dentro del contexto entregado (automático)</a:t>
                      </a:r>
                      <a:endParaRPr sz="17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25/25</a:t>
                      </a:r>
                      <a:endParaRPr sz="1700"/>
                    </a:p>
                  </a:txBody>
                  <a:tcPr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/>
                        <a:t>Citas que están en los qrels (automático)</a:t>
                      </a:r>
                      <a:endParaRPr sz="17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12/25</a:t>
                      </a:r>
                      <a:endParaRPr sz="1700"/>
                    </a:p>
                  </a:txBody>
                  <a:tcPr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/>
                        <a:t>Citas que sustentan alguna afirmación (manual)</a:t>
                      </a:r>
                      <a:endParaRPr sz="17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12/25</a:t>
                      </a:r>
                      <a:endParaRPr sz="1700"/>
                    </a:p>
                  </a:txBody>
                  <a:tcPr marT="27432" marB="27432"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/>
                        <a:t>Afirmaciones sustentadas que citan su pasaje (manual)</a:t>
                      </a:r>
                      <a:endParaRPr sz="17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700"/>
                        <a:t>13/16</a:t>
                      </a:r>
                      <a:endParaRPr sz="1700"/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023360"/>
            <a:ext cx="11064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/>
              <a:t>• Closed-book no cita nada, porque no tiene pasajes</a:t>
            </a:r>
            <a:endParaRPr sz="1800"/>
          </a:p>
          <a:p>
            <a:pPr>
              <a:spcAft>
                <a:spcPts val="800"/>
              </a:spcAft>
            </a:pPr>
            <a:r>
              <a:rPr sz="1800"/>
              <a:t>• Todas las citas apuntan a un pasaje que sí estaba en el contexto, pero solo 12 de 25 sustentan algo</a:t>
            </a:r>
            <a:endParaRPr sz="1800"/>
          </a:p>
          <a:p>
            <a:pPr lvl="1">
              <a:spcAft>
                <a:spcPts val="800"/>
              </a:spcAft>
            </a:pPr>
            <a:r>
              <a:rPr sz="1500"/>
              <a:t>- A veces el modelo cita los 5 pasajes del contexto aunque solo 1 o 2 dicen lo que afirma (Q02 y Q14)</a:t>
            </a:r>
            <a:endParaRPr sz="1500"/>
          </a:p>
          <a:p>
            <a:pPr>
              <a:spcAft>
                <a:spcPts val="800"/>
              </a:spcAft>
            </a:pPr>
            <a:r>
              <a:rPr sz="1800"/>
              <a:t>• Los dos conteos de 12/25 no cuentan las mismas citas</a:t>
            </a:r>
            <a:endParaRPr sz="1800"/>
          </a:p>
          <a:p>
            <a:pPr lvl="1">
              <a:spcAft>
                <a:spcPts val="800"/>
              </a:spcAft>
            </a:pPr>
            <a:r>
              <a:rPr sz="1500"/>
              <a:t>- En Q04 la cita E43-P05 está en los qrels, pero no sustenta el ganador ni el monto</a:t>
            </a:r>
            <a:endParaRPr sz="1500"/>
          </a:p>
          <a:p>
            <a:pPr lvl="1">
              <a:spcAft>
                <a:spcPts val="800"/>
              </a:spcAft>
            </a:pPr>
            <a:r>
              <a:rPr sz="1500"/>
              <a:t>- En Q15 la cita E36-P06 sustenta el 79 %, pero no está en los qrels</a:t>
            </a:r>
            <a:endParaRPr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Resultados: faithfulness</a:t>
            </a:r>
            <a:endParaRPr sz="32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2286000"/>
                <a:gridCol w="2286000"/>
                <a:gridCol w="2377440"/>
              </a:tblGrid>
              <a:tr h="502920">
                <a:tc>
                  <a:txBody>
                    <a:bodyPr/>
                    <a:lstStyle/>
                    <a:p>
                      <a:r>
                        <a:rPr sz="1800"/>
                        <a:t>Condición</a:t>
                      </a:r>
                      <a:endParaRPr sz="18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Afirmaciones</a:t>
                      </a:r>
                      <a:endParaRPr sz="18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Sustentadas</a:t>
                      </a:r>
                      <a:endParaRPr sz="18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Faithfulness</a:t>
                      </a:r>
                      <a:endParaRPr sz="1800"/>
                    </a:p>
                  </a:txBody>
                  <a:tcPr marT="27432" marB="27432"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/>
                        <a:t>Closed-book</a:t>
                      </a:r>
                      <a:endParaRPr sz="18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1</a:t>
                      </a:r>
                      <a:endParaRPr sz="18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0</a:t>
                      </a:r>
                      <a:endParaRPr sz="18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0,00</a:t>
                      </a:r>
                      <a:endParaRPr sz="1800"/>
                    </a:p>
                  </a:txBody>
                  <a:tcPr marT="27432" marB="27432"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/>
                        <a:t>RAG (top-5 de C)</a:t>
                      </a:r>
                      <a:endParaRPr sz="18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19</a:t>
                      </a:r>
                      <a:endParaRPr sz="18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16</a:t>
                      </a:r>
                      <a:endParaRPr sz="18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0,84</a:t>
                      </a:r>
                      <a:endParaRPr sz="1800"/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200400"/>
            <a:ext cx="11064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Faithfulness = afirmaciones sustentadas dividido entre afirmaciones totales</a:t>
            </a:r>
            <a:endParaRPr sz="1900"/>
          </a:p>
          <a:p>
            <a:pPr>
              <a:spcAft>
                <a:spcPts val="800"/>
              </a:spcAft>
            </a:pPr>
            <a:r>
              <a:rPr sz="1900"/>
              <a:t>• Con RAG, 16 de 19 afirmaciones están respaldadas por el contexto</a:t>
            </a:r>
            <a:endParaRPr sz="1900"/>
          </a:p>
          <a:p>
            <a:pPr>
              <a:spcAft>
                <a:spcPts val="800"/>
              </a:spcAft>
            </a:pPr>
            <a:r>
              <a:rPr sz="1900"/>
              <a:t>• Las 3 que no lo están son de las consultas Q15, Q21 y Q22</a:t>
            </a:r>
            <a:endParaRPr sz="1900"/>
          </a:p>
          <a:p>
            <a:pPr lvl="1">
              <a:spcAft>
                <a:spcPts val="800"/>
              </a:spcAft>
            </a:pPr>
            <a:r>
              <a:rPr sz="1600"/>
              <a:t>- Q15: contradicha por el pasaje; Q21 y Q22: ningún pasaje las respalda</a:t>
            </a:r>
            <a:endParaRPr sz="1600"/>
          </a:p>
          <a:p>
            <a:pPr>
              <a:spcAft>
                <a:spcPts val="800"/>
              </a:spcAft>
            </a:pPr>
            <a:r>
              <a:rPr sz="1900"/>
              <a:t>• Closed-book casi no afirma nada (solo la del MTC en Q01, que es falsa)</a:t>
            </a:r>
            <a:endParaRPr sz="1900"/>
          </a:p>
          <a:p>
            <a:pPr lvl="1">
              <a:spcAft>
                <a:spcPts val="800"/>
              </a:spcAft>
            </a:pPr>
            <a:r>
              <a:rPr sz="1600"/>
              <a:t>- Su faithfulness no se puede comparar, porque casi no hay afirmaciones que revisar</a:t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Errores analizados: los controles Q21 y Q22</a:t>
            </a:r>
            <a:endParaRPr sz="32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474720"/>
                <a:gridCol w="3657600"/>
              </a:tblGrid>
              <a:tr h="868680">
                <a:tc>
                  <a:txBody>
                    <a:bodyPr/>
                    <a:lstStyle/>
                    <a:p>
                      <a:r>
                        <a:rPr sz="1500"/>
                        <a:t>Consulta</a:t>
                      </a:r>
                      <a:endParaRPr sz="15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Qué dice el contexto</a:t>
                      </a:r>
                      <a:endParaRPr sz="15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Respuesta del modelo con RAG</a:t>
                      </a:r>
                      <a:endParaRPr sz="1500"/>
                    </a:p>
                  </a:txBody>
                  <a:tcPr marT="27432" marB="27432"/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/>
                        <a:t>Q21: ¿qué sanción le impuso el Tribunal a MC INNOVATEC?</a:t>
                      </a:r>
                      <a:endParaRPr sz="15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E01-P06: buena pro a MC INNOVATEC por S/ 184,500.00</a:t>
                      </a:r>
                      <a:endParaRPr sz="15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Impuso una sanción de S/ 184,500.00 (cita E01-P06)</a:t>
                      </a:r>
                      <a:endParaRPr sz="1500"/>
                    </a:p>
                  </a:txBody>
                  <a:tcPr marT="27432" marB="27432"/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/>
                        <a:t>Q22: ¿cuál era el plazo de entrega de los switches Cisco?</a:t>
                      </a:r>
                      <a:endParaRPr sz="15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Ningún pasaje habla de plazos</a:t>
                      </a:r>
                      <a:endParaRPr sz="15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500"/>
                        <a:t>Fue de 30 días (cita E01-P02)</a:t>
                      </a:r>
                      <a:endParaRPr sz="1500"/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976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En ambas debía abstenerse y no lo hizo</a:t>
            </a:r>
            <a:endParaRPr sz="1900"/>
          </a:p>
          <a:p>
            <a:pPr>
              <a:spcAft>
                <a:spcPts val="800"/>
              </a:spcAft>
            </a:pPr>
            <a:r>
              <a:rPr sz="1900"/>
              <a:t>• Q21: convierte una adjudicación en una sanción, y la cita hace que la respuesta parezca sustentada</a:t>
            </a:r>
            <a:endParaRPr sz="1900"/>
          </a:p>
          <a:p>
            <a:pPr>
              <a:spcAft>
                <a:spcPts val="800"/>
              </a:spcAft>
            </a:pPr>
            <a:r>
              <a:rPr sz="1900"/>
              <a:t>• Q22: inventa un dato (los plazos están en las bases en PDF, que el corpus no tiene)</a:t>
            </a:r>
            <a:endParaRPr sz="1900"/>
          </a:p>
          <a:p>
            <a:pPr>
              <a:spcAft>
                <a:spcPts val="800"/>
              </a:spcAft>
            </a:pPr>
            <a:r>
              <a:rPr sz="1900"/>
              <a:t>• Closed-book, sin pasajes, se abstuvo en las dos</a:t>
            </a:r>
            <a:endParaRPr sz="1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Errores analizados: Q15, Q12 y Q04</a:t>
            </a:r>
            <a:endParaRPr sz="3200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Q15: el modelo se contradice</a:t>
            </a:r>
            <a:endParaRPr sz="1900"/>
          </a:p>
          <a:p>
            <a:pPr lvl="1">
              <a:spcAft>
                <a:spcPts val="800"/>
              </a:spcAft>
            </a:pPr>
            <a:r>
              <a:rPr sz="1600"/>
              <a:t>- Dice "no aceptaba un producto equivalente" y en la frase siguiente "lo solicitado era AutoCAD o equivalente"</a:t>
            </a:r>
            <a:endParaRPr sz="1600"/>
          </a:p>
          <a:p>
            <a:pPr lvl="1">
              <a:spcAft>
                <a:spcPts val="800"/>
              </a:spcAft>
            </a:pPr>
            <a:r>
              <a:rPr sz="1600"/>
              <a:t>- El objeto del proceso dice "o equivalente" y el ítem no; el modelo no señala esa diferencia</a:t>
            </a:r>
            <a:endParaRPr sz="1600"/>
          </a:p>
          <a:p>
            <a:pPr>
              <a:spcAft>
                <a:spcPts val="800"/>
              </a:spcAft>
            </a:pPr>
            <a:r>
              <a:rPr sz="1900"/>
              <a:t>• Q12: respuesta correcta con cita equivocada</a:t>
            </a:r>
            <a:endParaRPr sz="1900"/>
          </a:p>
          <a:p>
            <a:pPr lvl="1">
              <a:spcAft>
                <a:spcPts val="800"/>
              </a:spcAft>
            </a:pPr>
            <a:r>
              <a:rPr sz="1600"/>
              <a:t>- Cita la convocatoria (E50-P01) y no el pasaje de postores (E50-P05), que sí estaba en el contexto</a:t>
            </a:r>
            <a:endParaRPr sz="1600"/>
          </a:p>
          <a:p>
            <a:pPr>
              <a:spcAft>
                <a:spcPts val="800"/>
              </a:spcAft>
            </a:pPr>
            <a:r>
              <a:rPr sz="1900"/>
              <a:t>• Q04: respuesta parcial</a:t>
            </a:r>
            <a:endParaRPr sz="1900"/>
          </a:p>
          <a:p>
            <a:pPr lvl="1">
              <a:spcAft>
                <a:spcPts val="800"/>
              </a:spcAft>
            </a:pPr>
            <a:r>
              <a:rPr sz="1600"/>
              <a:t>- Da el ganador y el monto, pero omite los 15 postores y cita el pasaje de postores para el ganador</a:t>
            </a:r>
            <a:endParaRPr sz="1600"/>
          </a:p>
          <a:p>
            <a:pPr>
              <a:spcAft>
                <a:spcPts val="800"/>
              </a:spcAft>
            </a:pPr>
            <a:r>
              <a:rPr sz="1900"/>
              <a:t>• La métrica automática cuenta esa cita de Q04 como correcta porque el pasaje está en los qrels</a:t>
            </a:r>
            <a:endParaRPr sz="1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Costo del RAG</a:t>
            </a:r>
            <a:endParaRPr sz="32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789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651760"/>
                <a:gridCol w="2651760"/>
              </a:tblGrid>
              <a:tr h="502920">
                <a:tc>
                  <a:txBody>
                    <a:bodyPr/>
                    <a:lstStyle/>
                    <a:p/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Closed-book</a:t>
                      </a:r>
                      <a:endParaRPr sz="18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RAG</a:t>
                      </a:r>
                      <a:endParaRPr sz="1800"/>
                    </a:p>
                  </a:txBody>
                  <a:tcPr marT="27432" marB="27432"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/>
                        <a:t>Tokens de prompt (media)</a:t>
                      </a:r>
                      <a:endParaRPr sz="18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271</a:t>
                      </a:r>
                      <a:endParaRPr sz="18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943</a:t>
                      </a:r>
                      <a:endParaRPr sz="1800"/>
                    </a:p>
                  </a:txBody>
                  <a:tcPr marT="27432" marB="27432"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/>
                        <a:t>Latencia media por respuesta (s)</a:t>
                      </a:r>
                      <a:endParaRPr sz="18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20,2</a:t>
                      </a:r>
                      <a:endParaRPr sz="18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35,3</a:t>
                      </a:r>
                      <a:endParaRPr sz="1800"/>
                    </a:p>
                  </a:txBody>
                  <a:tcPr marT="27432" marB="27432"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800"/>
                        <a:t>Latencia p95 (s)</a:t>
                      </a:r>
                      <a:endParaRPr sz="18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25,6</a:t>
                      </a:r>
                      <a:endParaRPr sz="18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800"/>
                        <a:t>48,3</a:t>
                      </a:r>
                      <a:endParaRPr sz="1800"/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6576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• Los 5 pasajes multiplican la entrada por 3,5</a:t>
            </a:r>
            <a:endParaRPr sz="2000"/>
          </a:p>
          <a:p>
            <a:pPr>
              <a:spcAft>
                <a:spcPts val="800"/>
              </a:spcAft>
            </a:pPr>
            <a:r>
              <a:rPr sz="2000"/>
              <a:t>• La latencia sube un 75 %</a:t>
            </a:r>
            <a:endParaRPr sz="2000"/>
          </a:p>
          <a:p>
            <a:pPr lvl="1">
              <a:spcAft>
                <a:spcPts val="800"/>
              </a:spcAft>
            </a:pPr>
            <a:r>
              <a:rPr sz="1700"/>
              <a:t>- El modelo tiene que leer el contexto antes de generar la primera palabra</a:t>
            </a:r>
            <a:endParaRPr sz="1700"/>
          </a:p>
          <a:p>
            <a:pPr>
              <a:spcAft>
                <a:spcPts val="800"/>
              </a:spcAft>
            </a:pPr>
            <a:r>
              <a:rPr sz="2000"/>
              <a:t>• Medido en CPU y en una sola corrida: sirve de orden de magnitud</a:t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Lo que no funcionó: abstenerse con un umbral</a:t>
            </a:r>
            <a:endParaRPr sz="320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760720"/>
                <a:gridCol w="3108960"/>
              </a:tblGrid>
              <a:tr h="457200">
                <a:tc>
                  <a:txBody>
                    <a:bodyPr/>
                    <a:lstStyle/>
                    <a:p>
                      <a:r>
                        <a:rPr sz="1600"/>
                        <a:t>Consulta</a:t>
                      </a:r>
                      <a:endParaRPr sz="16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Puntaje del Cross-Encoder del primer pasaje</a:t>
                      </a:r>
                      <a:endParaRPr sz="16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¿Hay evidencia?</a:t>
                      </a:r>
                      <a:endParaRPr sz="1600"/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Q08</a:t>
                      </a:r>
                      <a:endParaRPr sz="16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-1,95 (el más bajo de todas)</a:t>
                      </a:r>
                      <a:endParaRPr sz="16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sí, bien recuperada</a:t>
                      </a:r>
                      <a:endParaRPr sz="1600"/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Q21</a:t>
                      </a:r>
                      <a:endParaRPr sz="16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-0,68</a:t>
                      </a:r>
                      <a:endParaRPr sz="16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no (control)</a:t>
                      </a:r>
                      <a:endParaRPr sz="1600"/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Q19</a:t>
                      </a:r>
                      <a:endParaRPr sz="16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1,53</a:t>
                      </a:r>
                      <a:endParaRPr sz="16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sí</a:t>
                      </a:r>
                      <a:endParaRPr sz="1600"/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Q13</a:t>
                      </a:r>
                      <a:endParaRPr sz="16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2,02</a:t>
                      </a:r>
                      <a:endParaRPr sz="16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sí</a:t>
                      </a:r>
                      <a:endParaRPr sz="1600"/>
                    </a:p>
                  </a:txBody>
                  <a:tcPr marT="27432" marB="27432"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600"/>
                        <a:t>Q22</a:t>
                      </a:r>
                      <a:endParaRPr sz="16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2,30</a:t>
                      </a:r>
                      <a:endParaRPr sz="1600"/>
                    </a:p>
                  </a:txBody>
                  <a:tcPr marT="27432" marB="27432"/>
                </a:tc>
                <a:tc>
                  <a:txBody>
                    <a:bodyPr/>
                    <a:lstStyle/>
                    <a:p>
                      <a:r>
                        <a:rPr sz="1600"/>
                        <a:t>no (control)</a:t>
                      </a:r>
                      <a:endParaRPr sz="1600"/>
                    </a:p>
                  </a:txBody>
                  <a:tcPr marT="27432" marB="27432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976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/>
              <a:t>• Idea: no responder si el primer pasaje tiene un puntaje bajo</a:t>
            </a:r>
            <a:endParaRPr sz="1900"/>
          </a:p>
          <a:p>
            <a:pPr>
              <a:spcAft>
                <a:spcPts val="800"/>
              </a:spcAft>
            </a:pPr>
            <a:r>
              <a:rPr sz="1900"/>
              <a:t>• No sirve: Q08 tiene evidencia y el puntaje más bajo, y Q22 queda por encima de Q19 y Q13</a:t>
            </a:r>
            <a:endParaRPr sz="1900"/>
          </a:p>
          <a:p>
            <a:pPr lvl="1">
              <a:spcAft>
                <a:spcPts val="800"/>
              </a:spcAft>
            </a:pPr>
            <a:r>
              <a:rPr sz="1600"/>
              <a:t>- Un umbral que atrape Q21 también dejaría sin respuesta a Q08, que sí se podía responder</a:t>
            </a:r>
            <a:endParaRPr sz="1600"/>
          </a:p>
          <a:p>
            <a:pPr>
              <a:spcAft>
                <a:spcPts val="800"/>
              </a:spcAft>
            </a:pPr>
            <a:r>
              <a:rPr sz="1900"/>
              <a:t>• No se implementó ningún umbral</a:t>
            </a:r>
            <a:endParaRPr sz="1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Limitaciones</a:t>
            </a:r>
            <a:endParaRPr sz="3200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• 12 consultas: sirve para ver casos concretos, no para generalizar</a:t>
            </a:r>
            <a:endParaRPr sz="2000"/>
          </a:p>
          <a:p>
            <a:pPr>
              <a:spcAft>
                <a:spcPts val="800"/>
              </a:spcAft>
            </a:pPr>
            <a:r>
              <a:rPr sz="2000"/>
              <a:t>• Un solo modelo pequeño (Qwen2.5-1.5B) en CPU; uno más grande podría abstenerse mejor, y no se probó</a:t>
            </a:r>
            <a:endParaRPr sz="2000"/>
          </a:p>
          <a:p>
            <a:pPr>
              <a:spcAft>
                <a:spcPts val="800"/>
              </a:spcAft>
            </a:pPr>
            <a:r>
              <a:rPr sz="2000"/>
              <a:t>• La auditoría la hicimos nosotros, sin un segundo anotador ni medida de acuerdo</a:t>
            </a:r>
            <a:endParaRPr sz="2000"/>
          </a:p>
          <a:p>
            <a:pPr>
              <a:spcAft>
                <a:spcPts val="800"/>
              </a:spcAft>
            </a:pPr>
            <a:r>
              <a:rPr sz="2000"/>
              <a:t>• El corpus no tiene las bases del proceso, que están en PDF: consultas como Q22 no se pueden responder</a:t>
            </a:r>
            <a:endParaRPr sz="2000"/>
          </a:p>
          <a:p>
            <a:pPr>
              <a:spcAft>
                <a:spcPts val="800"/>
              </a:spcAft>
            </a:pPr>
            <a:r>
              <a:rPr sz="2000"/>
              <a:t>• Una sola corrida y una sola máquina, así que las latencias son orientativas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74320"/>
            <a:ext cx="11064240" cy="822960"/>
          </a:xfrm>
        </p:spPr>
        <p:txBody>
          <a:bodyPr/>
          <a:lstStyle/>
          <a:p>
            <a:pPr algn="l"/>
            <a:r>
              <a:rPr sz="3200"/>
              <a:t>Conclusión</a:t>
            </a:r>
            <a:endParaRPr sz="3200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/>
              <a:t>• Con evidencia, el mismo modelo pasa de no responder 9 de 10 consultas a responder bien 8 y a medias 1</a:t>
            </a:r>
            <a:endParaRPr sz="2000"/>
          </a:p>
          <a:p>
            <a:pPr lvl="1">
              <a:spcAft>
                <a:spcPts val="800"/>
              </a:spcAft>
            </a:pPr>
            <a:r>
              <a:rPr sz="1700"/>
              <a:t>- Y 16 de sus 19 afirmaciones están respaldadas por el contexto</a:t>
            </a:r>
            <a:endParaRPr sz="1700"/>
          </a:p>
          <a:p>
            <a:pPr>
              <a:spcAft>
                <a:spcPts val="800"/>
              </a:spcAft>
            </a:pPr>
            <a:r>
              <a:rPr sz="2000"/>
              <a:t>• Pero RAG le quitó la capacidad de abstenerse: 0 de 2 controles, frente a 2 de 2 en closed-book</a:t>
            </a:r>
            <a:endParaRPr sz="2000"/>
          </a:p>
          <a:p>
            <a:pPr lvl="1">
              <a:spcAft>
                <a:spcPts val="800"/>
              </a:spcAft>
            </a:pPr>
            <a:r>
              <a:rPr sz="1700"/>
              <a:t>- El modelo usa los pasajes que recibe para inventar una respuesta con cita</a:t>
            </a:r>
            <a:endParaRPr sz="1700"/>
          </a:p>
          <a:p>
            <a:pPr>
              <a:spcAft>
                <a:spcPts val="800"/>
              </a:spcAft>
            </a:pPr>
            <a:r>
              <a:rPr sz="2000"/>
              <a:t>• Una cita a un id válido no garantiza nada: 13 de 25 citas no sustentan lo que dice la respuesta</a:t>
            </a:r>
            <a:endParaRPr sz="2000"/>
          </a:p>
          <a:p>
            <a:pPr lvl="1">
              <a:spcAft>
                <a:spcPts val="800"/>
              </a:spcAft>
            </a:pPr>
            <a:r>
              <a:rPr sz="1700"/>
              <a:t>- Una respuesta citada no es una respuesta verificada</a:t>
            </a:r>
            <a:endParaRPr sz="1700"/>
          </a:p>
          <a:p>
            <a:pPr>
              <a:spcAft>
                <a:spcPts val="800"/>
              </a:spcAft>
            </a:pPr>
            <a:r>
              <a:rPr sz="2000"/>
              <a:t>• El costo: 3,5 veces más tokens de entrada y 75 % más de latencia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10422</Words>
  <Application>WPS Presentation</Application>
  <PresentationFormat>On-screen Show (4:3)</PresentationFormat>
  <Paragraphs>373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Experimento 2: RAG y evidencia</vt:lpstr>
      <vt:lpstr>¿De qué trata el experimento?</vt:lpstr>
      <vt:lpstr>Qué entra al experimento</vt:lpstr>
      <vt:lpstr>Qué se compara</vt:lpstr>
      <vt:lpstr>El prompt</vt:lpstr>
      <vt:lpstr>La salida del modelo</vt:lpstr>
      <vt:lpstr>Qué se mantiene igual</vt:lpstr>
      <vt:lpstr>Por qué el mismo prompt en las dos condiciones</vt:lpstr>
      <vt:lpstr>Cómo se mide</vt:lpstr>
      <vt:lpstr>Ejemplo de auditoría: consulta Q12</vt:lpstr>
      <vt:lpstr>Resultados: corrección de las respuestas</vt:lpstr>
      <vt:lpstr>Resultados: gráfico</vt:lpstr>
      <vt:lpstr>Interpretación: la corrección</vt:lpstr>
      <vt:lpstr>Resultados: las citas</vt:lpstr>
      <vt:lpstr>Resultados: faithfulness</vt:lpstr>
      <vt:lpstr>Errores analizados: los controles Q21 y Q22</vt:lpstr>
      <vt:lpstr>Errores analizados: Q15, Q12 y Q04</vt:lpstr>
      <vt:lpstr>Costo del RAG</vt:lpstr>
      <vt:lpstr>Lo que no funcionó: abstenerse con un umbral</vt:lpstr>
      <vt:lpstr>Limitaciones</vt:lpstr>
      <vt:lpstr>Conclusión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DAVID FERNANDO REEVES GOÑI</cp:lastModifiedBy>
  <cp:revision>2</cp:revision>
  <dcterms:created xsi:type="dcterms:W3CDTF">2013-01-27T09:14:00Z</dcterms:created>
  <dcterms:modified xsi:type="dcterms:W3CDTF">2026-10-29T16:49:39Z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99FB54F1FD93471FA2EF329A972751A2_12</vt:lpwstr>
  </property>
  <property fmtid="{D5CDD505-2E9C-101B-9397-08002B2CF9AE}" pid="3" name="KSOProductBuildVer">
    <vt:lpwstr>2058-12.1.0.29162</vt:lpwstr>
  </property>
</Properties>
</file>